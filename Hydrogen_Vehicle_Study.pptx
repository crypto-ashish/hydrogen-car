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bubble3D val="0"/>
            <c:spPr>
              <a:solidFill>
                <a:srgbClr val="C55A11"/>
              </a:solidFill>
              <a:effectLst/>
            </c:spPr>
          </c:dPt>
          <c:dPt>
            <c:idx val="2"/>
            <c:bubble3D val="0"/>
            <c:spPr>
              <a:solidFill>
                <a:srgbClr val="2E75B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pto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pto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pto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China (7,797)</c:v>
                </c:pt>
                <c:pt idx="1">
                  <c:v>S. Korea (6,802)</c:v>
                </c:pt>
                <c:pt idx="2">
                  <c:v>Rest of World (1,412)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48.7</c:v>
                </c:pt>
                <c:pt idx="1">
                  <c:v>42.5</c:v>
                </c:pt>
                <c:pt idx="2">
                  <c:v>8.8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62626"/>
                    </a:solidFill>
                    <a:latin typeface="Apto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A7D22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2020</c:v>
                  </c:pt>
                  <c:pt idx="1">
                    <c:v>2021 ▲83%</c:v>
                  </c:pt>
                  <c:pt idx="2">
                    <c:v>2022 ▲19%</c:v>
                  </c:pt>
                  <c:pt idx="3">
                    <c:v>2023 ▼21%</c:v>
                  </c:pt>
                  <c:pt idx="4">
                    <c:v>2024 ▼22%</c:v>
                  </c:pt>
                  <c:pt idx="5">
                    <c:v>2025 ▲24%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9500</c:v>
                </c:pt>
                <c:pt idx="1">
                  <c:v>17400</c:v>
                </c:pt>
                <c:pt idx="2">
                  <c:v>20704</c:v>
                </c:pt>
                <c:pt idx="3">
                  <c:v>16413</c:v>
                </c:pt>
                <c:pt idx="4">
                  <c:v>12866</c:v>
                </c:pt>
                <c:pt idx="5">
                  <c:v>16011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62626"/>
                  </a:solidFill>
                  <a:latin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9DC3E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Apto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China</c:v>
                  </c:pt>
                  <c:pt idx="1">
                    <c:v>S. Korea</c:v>
                  </c:pt>
                  <c:pt idx="2">
                    <c:v>Europe</c:v>
                  </c:pt>
                  <c:pt idx="3">
                    <c:v>Japan</c:v>
                  </c:pt>
                  <c:pt idx="4">
                    <c:v>USA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7113</c:v>
                </c:pt>
                <c:pt idx="1">
                  <c:v>3688</c:v>
                </c:pt>
                <c:pt idx="2">
                  <c:v>736</c:v>
                </c:pt>
                <c:pt idx="3">
                  <c:v>686</c:v>
                </c:pt>
                <c:pt idx="4">
                  <c:v>586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Apto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China</c:v>
                  </c:pt>
                  <c:pt idx="1">
                    <c:v>S. Korea</c:v>
                  </c:pt>
                  <c:pt idx="2">
                    <c:v>Europe</c:v>
                  </c:pt>
                  <c:pt idx="3">
                    <c:v>Japan</c:v>
                  </c:pt>
                  <c:pt idx="4">
                    <c:v>USA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7797</c:v>
                </c:pt>
                <c:pt idx="1">
                  <c:v>6802</c:v>
                </c:pt>
                <c:pt idx="2">
                  <c:v>566</c:v>
                </c:pt>
                <c:pt idx="3">
                  <c:v>430</c:v>
                </c:pt>
                <c:pt idx="4">
                  <c:v>365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Aptos"/>
              <a:cs typeface="Apto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62626"/>
                    </a:solidFill>
                    <a:latin typeface="Apto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China</c:v>
                  </c:pt>
                  <c:pt idx="1">
                    <c:v>S. Korea</c:v>
                  </c:pt>
                  <c:pt idx="2">
                    <c:v>Japan</c:v>
                  </c:pt>
                  <c:pt idx="3">
                    <c:v>Germany</c:v>
                  </c:pt>
                  <c:pt idx="4">
                    <c:v>USA</c:v>
                  </c:pt>
                  <c:pt idx="5">
                    <c:v>France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384</c:v>
                </c:pt>
                <c:pt idx="1">
                  <c:v>198</c:v>
                </c:pt>
                <c:pt idx="2">
                  <c:v>161</c:v>
                </c:pt>
                <c:pt idx="3">
                  <c:v>113</c:v>
                </c:pt>
                <c:pt idx="4">
                  <c:v>89</c:v>
                </c:pt>
                <c:pt idx="5">
                  <c:v>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62626"/>
                  </a:solidFill>
                  <a:latin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Fuel Cell (FCEV)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Apto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Phase-1 (Mar'25)</c:v>
                  </c:pt>
                  <c:pt idx="1">
                    <c:v>Phase-2 (Jul'26)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</c:v>
                </c:pt>
                <c:pt idx="1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H₂-ICE</c:v>
                </c:pt>
              </c:strCache>
            </c:strRef>
          </c:tx>
          <c:spPr>
            <a:solidFill>
              <a:srgbClr val="C55A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Apto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Phase-1 (Mar'25)</c:v>
                  </c:pt>
                  <c:pt idx="1">
                    <c:v>Phase-2 (Jul'26)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</c:v>
                </c:pt>
                <c:pt idx="1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Apto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Aptos"/>
              <a:cs typeface="Apto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bubble3D val="0"/>
            <c:spPr>
              <a:solidFill>
                <a:srgbClr val="C55A1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pto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pto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Fuel Cell (35)</c:v>
                </c:pt>
                <c:pt idx="1">
                  <c:v>H₂-ICE (35)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35</c:v>
                </c:pt>
                <c:pt idx="1">
                  <c:v>35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2626"/>
                    </a:solidFill>
                    <a:latin typeface="Apto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ANERT- KSRTC</c:v>
                  </c:pt>
                  <c:pt idx="1">
                    <c:v>EKA- KPIT</c:v>
                  </c:pt>
                  <c:pt idx="2">
                    <c:v>KPI Green</c:v>
                  </c:pt>
                  <c:pt idx="3">
                    <c:v>Waaree</c:v>
                  </c:pt>
                  <c:pt idx="4">
                    <c:v>NTPC Green</c:v>
                  </c:pt>
                  <c:pt idx="5">
                    <c:v>VECV- BPCL</c:v>
                  </c:pt>
                  <c:pt idx="6">
                    <c:v>NHPC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51.5</c:v>
                </c:pt>
                <c:pt idx="1">
                  <c:v>44.8</c:v>
                </c:pt>
                <c:pt idx="2">
                  <c:v>43.4</c:v>
                </c:pt>
                <c:pt idx="3">
                  <c:v>28.8</c:v>
                </c:pt>
                <c:pt idx="4">
                  <c:v>26.6</c:v>
                </c:pt>
                <c:pt idx="5">
                  <c:v>5.9</c:v>
                </c:pt>
                <c:pt idx="6">
                  <c:v>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262626"/>
                  </a:solidFill>
                  <a:latin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6262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62626"/>
                    </a:solidFill>
                    <a:latin typeface="Apto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55A1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FC Bus</c:v>
                  </c:pt>
                  <c:pt idx="1">
                    <c:v>FC Truck</c:v>
                  </c:pt>
                  <c:pt idx="2">
                    <c:v>H₂-ICE Truck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</c:v>
                </c:pt>
                <c:pt idx="1">
                  <c:v>3</c:v>
                </c:pt>
                <c:pt idx="2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62626"/>
                  </a:solidFill>
                  <a:latin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3A7D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62626"/>
                    </a:solidFill>
                    <a:latin typeface="Apto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Madhya Pradesh</c:v>
                  </c:pt>
                  <c:pt idx="1">
                    <c:v>Gujarat*</c:v>
                  </c:pt>
                  <c:pt idx="2">
                    <c:v>Kerala</c:v>
                  </c:pt>
                  <c:pt idx="3">
                    <c:v>Himachal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12</c:v>
                </c:pt>
                <c:pt idx="2">
                  <c:v>4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62626"/>
                  </a:solidFill>
                  <a:latin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26974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Study Report on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82880" y="31089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000" dirty="0">
                <a:solidFill>
                  <a:srgbClr val="3A7D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</a:t>
            </a:r>
            <a:pPr algn="ctr" indent="0" marL="0">
              <a:buNone/>
            </a:pPr>
            <a:r>
              <a:rPr lang="en-US" sz="5000" dirty="0">
                <a:solidFill>
                  <a:srgbClr val="C55A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YDROGEN </a:t>
            </a:r>
            <a:pPr algn="ctr" indent="0" marL="0">
              <a:buNone/>
            </a:pPr>
            <a:r>
              <a:rPr lang="en-US" sz="5000" dirty="0">
                <a:solidFill>
                  <a:srgbClr val="3A7D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</a:t>
            </a:r>
            <a:pPr algn="ctr" indent="0" marL="0">
              <a:buNone/>
            </a:pPr>
            <a:r>
              <a:rPr lang="en-US" sz="5000" dirty="0">
                <a:solidFill>
                  <a:srgbClr val="C55A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EHICLE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40690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Fuel Cell Electric Vehicles (FCEV) &amp; Hydrogen Mobility</a:t>
            </a:r>
            <a:endParaRPr lang="en-US" sz="1500" dirty="0"/>
          </a:p>
        </p:txBody>
      </p:sp>
      <p:pic>
        <p:nvPicPr>
          <p:cNvPr id="5" name="Image 0" descr="Illustration of a hydrogen fuel cell car with H2 symbol and water-vapour exha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566928"/>
            <a:ext cx="502920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09728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1.a Vehicles: Global Hydrogen (FCEV) Outlook – CY 2025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9601200" y="1645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figures in units (Nos.)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28600" y="731520"/>
            <a:ext cx="38404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" y="77724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World FCEV Sales by Country 2025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274320" y="1097280"/>
          <a:ext cx="23774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914400" y="19659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~16,011</a:t>
            </a:r>
            <a:endParaRPr lang="en-US" sz="15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 FCEV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743200" y="1719072"/>
            <a:ext cx="14630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953512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China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7,797 Nos.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743200" y="2176272"/>
            <a:ext cx="146304" cy="146304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53512" y="21031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S. Korea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6,802 Nos.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43200" y="2633472"/>
            <a:ext cx="146304" cy="14630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53512" y="25603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 of World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1,412 Nos.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178808" y="731520"/>
            <a:ext cx="39319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24528" y="7772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FCEV Sales 2020 – 2025 (Nos.)</a:t>
            </a:r>
            <a:endParaRPr lang="en-US" sz="1300" dirty="0"/>
          </a:p>
        </p:txBody>
      </p:sp>
      <p:graphicFrame>
        <p:nvGraphicFramePr>
          <p:cNvPr id="16" name="Chart 1" descr=""/>
          <p:cNvGraphicFramePr/>
          <p:nvPr/>
        </p:nvGraphicFramePr>
        <p:xfrm>
          <a:off x="4270248" y="1097280"/>
          <a:ext cx="37490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Shape 13"/>
          <p:cNvSpPr/>
          <p:nvPr/>
        </p:nvSpPr>
        <p:spPr>
          <a:xfrm>
            <a:off x="8220456" y="731520"/>
            <a:ext cx="3739896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66176" y="777240"/>
            <a:ext cx="3648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 Countries – FCEV Sales 2024 vs 2025</a:t>
            </a:r>
            <a:endParaRPr lang="en-US" sz="1300" dirty="0"/>
          </a:p>
        </p:txBody>
      </p:sp>
      <p:graphicFrame>
        <p:nvGraphicFramePr>
          <p:cNvPr id="19" name="Chart 2" descr=""/>
          <p:cNvGraphicFramePr/>
          <p:nvPr/>
        </p:nvGraphicFramePr>
        <p:xfrm>
          <a:off x="8293608" y="1097280"/>
          <a:ext cx="3593592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Shape 15"/>
          <p:cNvSpPr/>
          <p:nvPr/>
        </p:nvSpPr>
        <p:spPr>
          <a:xfrm>
            <a:off x="228600" y="3520440"/>
            <a:ext cx="384048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274320" y="356616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FCEV vs Battery EV – World Sales 2025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411480" y="3977640"/>
            <a:ext cx="1645920" cy="1051560"/>
          </a:xfrm>
          <a:prstGeom prst="roundRect">
            <a:avLst>
              <a:gd name="adj" fmla="val 6957"/>
            </a:avLst>
          </a:prstGeom>
          <a:solidFill>
            <a:srgbClr val="EEF4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11480" y="4050792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A7D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~0.16 L</a:t>
            </a:r>
            <a:endParaRPr lang="en-US" sz="2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FCEV sold</a:t>
            </a:r>
            <a:endParaRPr lang="en-US" sz="2600" dirty="0"/>
          </a:p>
        </p:txBody>
      </p:sp>
      <p:sp>
        <p:nvSpPr>
          <p:cNvPr id="24" name="Shape 19"/>
          <p:cNvSpPr/>
          <p:nvPr/>
        </p:nvSpPr>
        <p:spPr>
          <a:xfrm>
            <a:off x="2240280" y="3977640"/>
            <a:ext cx="1645920" cy="1051560"/>
          </a:xfrm>
          <a:prstGeom prst="roundRect">
            <a:avLst>
              <a:gd name="adj" fmla="val 6957"/>
            </a:avLst>
          </a:prstGeom>
          <a:solidFill>
            <a:srgbClr val="EEF4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2240280" y="4050792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~207 L</a:t>
            </a:r>
            <a:endParaRPr lang="en-US" sz="2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BEV + PHEV sold</a:t>
            </a:r>
            <a:endParaRPr lang="en-US" sz="2600" dirty="0"/>
          </a:p>
        </p:txBody>
      </p:sp>
      <p:sp>
        <p:nvSpPr>
          <p:cNvPr id="26" name="Text 21"/>
          <p:cNvSpPr txBox="1"/>
          <p:nvPr/>
        </p:nvSpPr>
        <p:spPr>
          <a:xfrm>
            <a:off x="411480" y="51663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FCEV = </a:t>
            </a:r>
            <a:pPr algn="ctr"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&lt;0.1%</a:t>
            </a:r>
            <a:pPr algn="ctr"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of electric-vehicle sales; 1 FCEV sold for every ~1,300 plug-in EVs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4178808" y="3520440"/>
            <a:ext cx="393192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224528" y="35661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Hydrogen Refuelling Stations – End 2024</a:t>
            </a:r>
            <a:endParaRPr lang="en-US" sz="1300" dirty="0"/>
          </a:p>
        </p:txBody>
      </p:sp>
      <p:graphicFrame>
        <p:nvGraphicFramePr>
          <p:cNvPr id="29" name="Chart 3" descr=""/>
          <p:cNvGraphicFramePr/>
          <p:nvPr/>
        </p:nvGraphicFramePr>
        <p:xfrm>
          <a:off x="4270248" y="3886200"/>
          <a:ext cx="3749040" cy="20756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0" name="Text 24"/>
          <p:cNvSpPr txBox="1"/>
          <p:nvPr/>
        </p:nvSpPr>
        <p:spPr>
          <a:xfrm>
            <a:off x="6373368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7D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World: 1,160 stations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0456" y="3520440"/>
          <a:ext cx="3739896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051560"/>
                <a:gridCol w="1115568"/>
                <a:gridCol w="116128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SN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OEM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Key Model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Sales 2025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Hyundai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Nexo (Gen-2)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7,047 ▲58%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Toyota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Mirai, Crown FCEV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1,257 ▼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Honda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CR-V e:FCEV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185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Chinese CV makers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FC buses &amp; trucks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~7,800 (CN)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 25"/>
          <p:cNvSpPr txBox="1"/>
          <p:nvPr/>
        </p:nvSpPr>
        <p:spPr>
          <a:xfrm>
            <a:off x="228600" y="6108192"/>
            <a:ext cx="11731752" cy="310896"/>
          </a:xfrm>
          <a:prstGeom prst="rect">
            <a:avLst/>
          </a:prstGeom>
          <a:noFill/>
          <a:ln w="9525">
            <a:solidFill>
              <a:srgbClr val="404040"/>
            </a:solidFill>
            <a:prstDash val="dash"/>
          </a:ln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➤  </a:t>
            </a:r>
            <a:pPr indent="0" marL="0">
              <a:buNone/>
            </a:pPr>
            <a:r>
              <a:rPr lang="en-US" sz="1300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China + Korea = 91% of FCEV sales. China's volume is mainly buses &amp; trucks; Korea's is Hyundai Nexo cars. Japan &amp; USA fell ~37%.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228600" y="6446520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SNE Research via Argus Media &amp; Asia Economy (Feb 2026) – FCEV sales 2020–25; H2stations.org / LBST (Feb 2025) – refuelling stations; IEA Global EV Outlook 2026 – EV sales; IEA Global Hydrogen Review 2025. CN-China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1/3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09728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1.b Vehicles: India Hydrogen Mobility Outlook – NGHM Pilots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9601200" y="1645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Pilot-stage; no retail FCEV sales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28600" y="731520"/>
            <a:ext cx="38404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" y="77724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NGHM Transport Pilots – At a Glance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1737360" cy="987552"/>
          </a:xfrm>
          <a:prstGeom prst="roundRect">
            <a:avLst>
              <a:gd name="adj" fmla="val 7407"/>
            </a:avLst>
          </a:prstGeom>
          <a:solidFill>
            <a:srgbClr val="EEF4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1225296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70</a:t>
            </a:r>
            <a:endParaRPr lang="en-US" sz="2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H₂ vehicles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194560" y="1188720"/>
            <a:ext cx="1737360" cy="987552"/>
          </a:xfrm>
          <a:prstGeom prst="roundRect">
            <a:avLst>
              <a:gd name="adj" fmla="val 7407"/>
            </a:avLst>
          </a:prstGeom>
          <a:solidFill>
            <a:srgbClr val="EEF4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94560" y="1225296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2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projects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65760" y="2286000"/>
            <a:ext cx="1737360" cy="987552"/>
          </a:xfrm>
          <a:prstGeom prst="roundRect">
            <a:avLst>
              <a:gd name="adj" fmla="val 7407"/>
            </a:avLst>
          </a:prstGeom>
          <a:solidFill>
            <a:srgbClr val="EEF4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" y="2322576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A7D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2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H₂ refuelling stations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2194560" y="2286000"/>
            <a:ext cx="1737360" cy="987552"/>
          </a:xfrm>
          <a:prstGeom prst="roundRect">
            <a:avLst>
              <a:gd name="adj" fmla="val 7407"/>
            </a:avLst>
          </a:prstGeom>
          <a:solidFill>
            <a:srgbClr val="EEF4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194560" y="2322576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55A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₹411 cr</a:t>
            </a:r>
            <a:endParaRPr lang="en-US" sz="2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Govt. support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4178808" y="731520"/>
            <a:ext cx="39319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24528" y="7772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Vehicles by Phase &amp; Technology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270248" y="1097280"/>
          <a:ext cx="37490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230368" y="13898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876288" y="13898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220456" y="731520"/>
            <a:ext cx="3739896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66176" y="777240"/>
            <a:ext cx="3648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Technology Mix – All 70 Vehicles</a:t>
            </a:r>
            <a:endParaRPr lang="en-US" sz="13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8311896" y="1097280"/>
          <a:ext cx="219456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951976" y="19385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70</a:t>
            </a:r>
            <a:endParaRPr lang="en-US" sz="18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Vehicles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10597896" y="1856232"/>
            <a:ext cx="14630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0808208" y="1783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Fuel Cell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 Nos.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10597896" y="2404872"/>
            <a:ext cx="146304" cy="146304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808208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H₂-ICE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 Nos.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520440"/>
          <a:ext cx="38404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383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SN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Phase-1 Pilot Routes (7 of 10)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Greater Noida – Delhi – Agra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Sahibabad – Faridabad – Delhi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Ahmedabad – Vadodara – Surat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Jamnagar – Ahmedabad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Pune – Mumbai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Bhubaneswar – Konark – Puri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Jamshedpur – Kalinga Nagar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  <p:sp>
        <p:nvSpPr>
          <p:cNvPr id="28" name="Shape 23"/>
          <p:cNvSpPr/>
          <p:nvPr/>
        </p:nvSpPr>
        <p:spPr>
          <a:xfrm>
            <a:off x="4178808" y="3520440"/>
            <a:ext cx="393192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224528" y="35661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Phase-1 Consortium Partners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4361688" y="395935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Vehicle OEMs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4361688" y="4251960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361688" y="42519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Tata Motors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6190488" y="4251960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6190488" y="42519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Ashok Leyland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4361688" y="47548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 &amp; H₂ supply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4361688" y="5047488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3A7D22"/>
          </a:solidFill>
          <a:ln w="12700">
            <a:solidFill>
              <a:srgbClr val="3A7D22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4361688" y="50474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IOCL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5550408" y="5047488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3A7D22"/>
          </a:solidFill>
          <a:ln w="12700">
            <a:solidFill>
              <a:srgbClr val="3A7D22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5550408" y="50474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BPCL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6739128" y="5047488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3A7D22"/>
          </a:solidFill>
          <a:ln w="12700">
            <a:solidFill>
              <a:srgbClr val="3A7D22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6739128" y="50474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HPCL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4361688" y="5504688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3A7D22"/>
          </a:solidFill>
          <a:ln w="12700">
            <a:solidFill>
              <a:srgbClr val="3A7D22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4361688" y="55046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NTPC</a:t>
            </a:r>
            <a:endParaRPr lang="en-US" sz="1200" dirty="0"/>
          </a:p>
        </p:txBody>
      </p:sp>
      <p:sp>
        <p:nvSpPr>
          <p:cNvPr id="44" name="Shape 39"/>
          <p:cNvSpPr/>
          <p:nvPr/>
        </p:nvSpPr>
        <p:spPr>
          <a:xfrm>
            <a:off x="5550408" y="5504688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3A7D22"/>
          </a:solidFill>
          <a:ln w="12700">
            <a:solidFill>
              <a:srgbClr val="3A7D22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5550408" y="55046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Reliance</a:t>
            </a:r>
            <a:endParaRPr lang="en-US" sz="1200" dirty="0"/>
          </a:p>
        </p:txBody>
      </p:sp>
      <p:sp>
        <p:nvSpPr>
          <p:cNvPr id="46" name="Shape 41"/>
          <p:cNvSpPr/>
          <p:nvPr/>
        </p:nvSpPr>
        <p:spPr>
          <a:xfrm>
            <a:off x="6739128" y="5504688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3A7D22"/>
          </a:solidFill>
          <a:ln w="12700">
            <a:solidFill>
              <a:srgbClr val="3A7D22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6739128" y="55046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ANERT</a:t>
            </a:r>
            <a:endParaRPr lang="en-US" sz="1200" dirty="0"/>
          </a:p>
        </p:txBody>
      </p:sp>
      <p:sp>
        <p:nvSpPr>
          <p:cNvPr id="48" name="Shape 43"/>
          <p:cNvSpPr/>
          <p:nvPr/>
        </p:nvSpPr>
        <p:spPr>
          <a:xfrm>
            <a:off x="8220456" y="3520440"/>
            <a:ext cx="3739896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8266176" y="3566160"/>
            <a:ext cx="3648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National Green Hydrogen Mission</a:t>
            </a:r>
            <a:endParaRPr lang="en-US" sz="1300" dirty="0"/>
          </a:p>
        </p:txBody>
      </p:sp>
      <p:sp>
        <p:nvSpPr>
          <p:cNvPr id="50" name="Text 45"/>
          <p:cNvSpPr txBox="1"/>
          <p:nvPr/>
        </p:nvSpPr>
        <p:spPr>
          <a:xfrm>
            <a:off x="8357616" y="3959352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₹19,744 cr</a:t>
            </a:r>
            <a:endParaRPr lang="en-US" sz="1400" dirty="0"/>
          </a:p>
        </p:txBody>
      </p:sp>
      <p:sp>
        <p:nvSpPr>
          <p:cNvPr id="51" name="Text 46"/>
          <p:cNvSpPr txBox="1"/>
          <p:nvPr/>
        </p:nvSpPr>
        <p:spPr>
          <a:xfrm>
            <a:off x="9793224" y="3959352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Mission outlay till FY 2029-30</a:t>
            </a:r>
            <a:endParaRPr lang="en-US" sz="1100" dirty="0"/>
          </a:p>
        </p:txBody>
      </p:sp>
      <p:sp>
        <p:nvSpPr>
          <p:cNvPr id="52" name="Text 47"/>
          <p:cNvSpPr txBox="1"/>
          <p:nvPr/>
        </p:nvSpPr>
        <p:spPr>
          <a:xfrm>
            <a:off x="8357616" y="4462272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MMT / yr</a:t>
            </a:r>
            <a:endParaRPr lang="en-US" sz="1400" dirty="0"/>
          </a:p>
        </p:txBody>
      </p:sp>
      <p:sp>
        <p:nvSpPr>
          <p:cNvPr id="53" name="Text 48"/>
          <p:cNvSpPr txBox="1"/>
          <p:nvPr/>
        </p:nvSpPr>
        <p:spPr>
          <a:xfrm>
            <a:off x="9793224" y="4462272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 H₂ production target by 2030</a:t>
            </a:r>
            <a:endParaRPr lang="en-US" sz="1100" dirty="0"/>
          </a:p>
        </p:txBody>
      </p:sp>
      <p:sp>
        <p:nvSpPr>
          <p:cNvPr id="54" name="Text 49"/>
          <p:cNvSpPr txBox="1"/>
          <p:nvPr/>
        </p:nvSpPr>
        <p:spPr>
          <a:xfrm>
            <a:off x="8357616" y="4965192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₹208 cr</a:t>
            </a:r>
            <a:endParaRPr lang="en-US" sz="1400" dirty="0"/>
          </a:p>
        </p:txBody>
      </p:sp>
      <p:sp>
        <p:nvSpPr>
          <p:cNvPr id="55" name="Text 50"/>
          <p:cNvSpPr txBox="1"/>
          <p:nvPr/>
        </p:nvSpPr>
        <p:spPr>
          <a:xfrm>
            <a:off x="9793224" y="4965192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Phase-1 support (37 vehicles, 9 HRS)</a:t>
            </a:r>
            <a:endParaRPr lang="en-US" sz="1100" dirty="0"/>
          </a:p>
        </p:txBody>
      </p:sp>
      <p:sp>
        <p:nvSpPr>
          <p:cNvPr id="56" name="Text 51"/>
          <p:cNvSpPr txBox="1"/>
          <p:nvPr/>
        </p:nvSpPr>
        <p:spPr>
          <a:xfrm>
            <a:off x="8357616" y="5468112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18–24 months</a:t>
            </a:r>
            <a:endParaRPr lang="en-US" sz="1400" dirty="0"/>
          </a:p>
        </p:txBody>
      </p:sp>
      <p:sp>
        <p:nvSpPr>
          <p:cNvPr id="57" name="Text 52"/>
          <p:cNvSpPr txBox="1"/>
          <p:nvPr/>
        </p:nvSpPr>
        <p:spPr>
          <a:xfrm>
            <a:off x="9793224" y="5468112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commissioning timeline</a:t>
            </a:r>
            <a:endParaRPr lang="en-US" sz="1100" dirty="0"/>
          </a:p>
        </p:txBody>
      </p:sp>
      <p:sp>
        <p:nvSpPr>
          <p:cNvPr id="58" name="Text 53"/>
          <p:cNvSpPr txBox="1"/>
          <p:nvPr/>
        </p:nvSpPr>
        <p:spPr>
          <a:xfrm>
            <a:off x="228600" y="6108192"/>
            <a:ext cx="11731752" cy="310896"/>
          </a:xfrm>
          <a:prstGeom prst="rect">
            <a:avLst/>
          </a:prstGeom>
          <a:noFill/>
          <a:ln w="9525">
            <a:solidFill>
              <a:srgbClr val="404040"/>
            </a:solidFill>
            <a:prstDash val="dash"/>
          </a:ln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➤  </a:t>
            </a:r>
            <a:pPr indent="0" marL="0">
              <a:buNone/>
            </a:pPr>
            <a:r>
              <a:rPr lang="en-US" sz="1300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India's H₂ mobility is still at pilot stage, led by buses &amp; heavy trucks. No FCEV car is on retail sale yet (Toyota Mirai pilot with ICAT since 2022).</a:t>
            </a:r>
            <a:endParaRPr lang="en-US" sz="1300" dirty="0"/>
          </a:p>
        </p:txBody>
      </p:sp>
      <p:sp>
        <p:nvSpPr>
          <p:cNvPr id="59" name="Text 54"/>
          <p:cNvSpPr txBox="1"/>
          <p:nvPr/>
        </p:nvSpPr>
        <p:spPr>
          <a:xfrm>
            <a:off x="228600" y="6446520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PIB / MNRE press release (3 Mar 2025) – Phase-1 pilots; Electrive (10 Aug 2026) &amp; Renewable Watch (31 Jul 2026) – Phase-2 pilots; MNRE – National Green Hydrogen Mission. Other Phase-1 routes: Thiruvananthapuram–Kochi, Kochi–Edappally, Visakhapatnam–Bayyavaram.</a:t>
            </a:r>
            <a:endParaRPr lang="en-US" sz="900" dirty="0"/>
          </a:p>
        </p:txBody>
      </p:sp>
      <p:sp>
        <p:nvSpPr>
          <p:cNvPr id="60" name="Text 55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09728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1.c Vehicles: India H₂ Pilots – Phase-2 Projects (Jul 2026)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9601200" y="1645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Funding in ₹ crore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28600" y="731520"/>
            <a:ext cx="38404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" y="77724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Govt. Support by Project (₹ cr)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01752" y="1097280"/>
          <a:ext cx="3694176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4178808" y="731520"/>
            <a:ext cx="39319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224528" y="7772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Phase-2 Vehicles by Type (Nos.)</a:t>
            </a:r>
            <a:endParaRPr lang="en-US" sz="13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4270248" y="1097280"/>
          <a:ext cx="37490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8220456" y="731520"/>
            <a:ext cx="3739896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66176" y="777240"/>
            <a:ext cx="3648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Vehicles by State (Nos.)</a:t>
            </a:r>
            <a:endParaRPr lang="en-US" sz="1300" dirty="0"/>
          </a:p>
        </p:txBody>
      </p:sp>
      <p:graphicFrame>
        <p:nvGraphicFramePr>
          <p:cNvPr id="12" name="Chart 2" descr=""/>
          <p:cNvGraphicFramePr/>
          <p:nvPr/>
        </p:nvGraphicFramePr>
        <p:xfrm>
          <a:off x="8293608" y="1097280"/>
          <a:ext cx="3593592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8311896" y="3182112"/>
            <a:ext cx="3557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*incl. Vapi–Nashik (MH) route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520440"/>
          <a:ext cx="117317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4389120"/>
                <a:gridCol w="2770632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SN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Lead / Consortium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Route (State)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Vehicles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₹ cr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ANERT, KSRTC, Tata Motors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Kochi–Kozhikode; Kochi–Thrissur–Palakkad (KL)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 FC bus + 2 H₂-ICE truck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51.5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EKA Mobility, KPIT, BPCL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Bina–Bhopal / Jhansi / Sanchi (MP)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 FC bus + 2 FC truck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44.8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KPI Green, Tata Motors, AB Process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Vadodara–Ankleshwar; Vapi–Nashik (GJ/MH)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 H₂-ICE truck (55 t)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43.4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Waaree, Indify Horizon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Surat–Chikhli–Tumb (GJ)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 FC bus + 1 FC truck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28.8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NTPC Green Energy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Kandla–Gandhidham (GJ)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 FC bus (9 m)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26.6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VE Commercial Vehicles, BPCL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Bina–Guna (MP)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 FC bus + 5 H₂-ICE truck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5.9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NHPC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Chamba area (HP)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 FC bus (9 m)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1.8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D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  <p:sp>
        <p:nvSpPr>
          <p:cNvPr id="15" name="Text 9"/>
          <p:cNvSpPr txBox="1"/>
          <p:nvPr/>
        </p:nvSpPr>
        <p:spPr>
          <a:xfrm>
            <a:off x="228600" y="6108192"/>
            <a:ext cx="11731752" cy="310896"/>
          </a:xfrm>
          <a:prstGeom prst="rect">
            <a:avLst/>
          </a:prstGeom>
          <a:noFill/>
          <a:ln w="9525">
            <a:solidFill>
              <a:srgbClr val="404040"/>
            </a:solidFill>
            <a:prstDash val="dash"/>
          </a:ln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➤  </a:t>
            </a:r>
            <a:pPr indent="0" marL="0">
              <a:buNone/>
            </a:pPr>
            <a:r>
              <a:rPr lang="en-US" sz="1300" i="1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Phase-2: 33 vehicles, ₹202.9 cr (90% of cost). Trucks shift to H₂-ICE (13 of 16) – cheaper than fuel cells; Tata Motors is in 2 of 7 consortia.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228600" y="6446520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Electrive – India to deploy 33 hydrogen commercial vehicles (10 Aug 2026); Renewable Watch (31 Jul 2026); MNRE / NGHM. Projects to be completed within 24 months of Letter of Award.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Study Report on Hydrogen Vehicle</dc:title>
  <dc:subject>PptxGenJS Presentation</dc:subject>
  <dc:creator>PptxGenJS</dc:creator>
  <cp:lastModifiedBy>PptxGenJS</cp:lastModifiedBy>
  <cp:revision>1</cp:revision>
  <dcterms:created xsi:type="dcterms:W3CDTF">2026-10-28T10:00:17Z</dcterms:created>
  <dcterms:modified xsi:type="dcterms:W3CDTF">2026-10-28T10:00:17Z</dcterms:modified>
</cp:coreProperties>
</file>