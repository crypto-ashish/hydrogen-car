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C55A11"/>
              </a:solidFill>
              <a:effectLst/>
            </c:spPr>
          </c:dPt>
          <c:dPt>
            <c:idx val="2"/>
            <c:bubble3D val="0"/>
            <c:spPr>
              <a:solidFill>
                <a:srgbClr val="2E75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China (7,797)</c:v>
                </c:pt>
                <c:pt idx="1">
                  <c:v>S. Korea (6,802)</c:v>
                </c:pt>
                <c:pt idx="2">
                  <c:v>Rest of World (1,412)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48.7</c:v>
                </c:pt>
                <c:pt idx="1">
                  <c:v>42.5</c:v>
                </c:pt>
                <c:pt idx="2">
                  <c:v>8.8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7D2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 ▲83%</c:v>
                  </c:pt>
                  <c:pt idx="2">
                    <c:v>2022 ▲19%</c:v>
                  </c:pt>
                  <c:pt idx="3">
                    <c:v>2023 ▼21%</c:v>
                  </c:pt>
                  <c:pt idx="4">
                    <c:v>2024 ▼22%</c:v>
                  </c:pt>
                  <c:pt idx="5">
                    <c:v>2025 ▲24%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9500</c:v>
                </c:pt>
                <c:pt idx="1">
                  <c:v>17400</c:v>
                </c:pt>
                <c:pt idx="2">
                  <c:v>20704</c:v>
                </c:pt>
                <c:pt idx="3">
                  <c:v>16413</c:v>
                </c:pt>
                <c:pt idx="4">
                  <c:v>12866</c:v>
                </c:pt>
                <c:pt idx="5">
                  <c:v>16011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China</c:v>
                  </c:pt>
                  <c:pt idx="1">
                    <c:v>S. Korea</c:v>
                  </c:pt>
                  <c:pt idx="2">
                    <c:v>Europe</c:v>
                  </c:pt>
                  <c:pt idx="3">
                    <c:v>Japan</c:v>
                  </c:pt>
                  <c:pt idx="4">
                    <c:v>USA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7113</c:v>
                </c:pt>
                <c:pt idx="1">
                  <c:v>3688</c:v>
                </c:pt>
                <c:pt idx="2">
                  <c:v>736</c:v>
                </c:pt>
                <c:pt idx="3">
                  <c:v>686</c:v>
                </c:pt>
                <c:pt idx="4">
                  <c:v>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China</c:v>
                  </c:pt>
                  <c:pt idx="1">
                    <c:v>S. Korea</c:v>
                  </c:pt>
                  <c:pt idx="2">
                    <c:v>Europe</c:v>
                  </c:pt>
                  <c:pt idx="3">
                    <c:v>Japan</c:v>
                  </c:pt>
                  <c:pt idx="4">
                    <c:v>USA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7797</c:v>
                </c:pt>
                <c:pt idx="1">
                  <c:v>6802</c:v>
                </c:pt>
                <c:pt idx="2">
                  <c:v>566</c:v>
                </c:pt>
                <c:pt idx="3">
                  <c:v>430</c:v>
                </c:pt>
                <c:pt idx="4">
                  <c:v>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China</c:v>
                  </c:pt>
                  <c:pt idx="1">
                    <c:v>S. Korea</c:v>
                  </c:pt>
                  <c:pt idx="2">
                    <c:v>Japan</c:v>
                  </c:pt>
                  <c:pt idx="3">
                    <c:v>Germany</c:v>
                  </c:pt>
                  <c:pt idx="4">
                    <c:v>USA</c:v>
                  </c:pt>
                  <c:pt idx="5">
                    <c:v>France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384</c:v>
                </c:pt>
                <c:pt idx="1">
                  <c:v>198</c:v>
                </c:pt>
                <c:pt idx="2">
                  <c:v>161</c:v>
                </c:pt>
                <c:pt idx="3">
                  <c:v>113</c:v>
                </c:pt>
                <c:pt idx="4">
                  <c:v>89</c:v>
                </c:pt>
                <c:pt idx="5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Fuel Cell (FCEV)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Phase-1 (Mar'25)</c:v>
                  </c:pt>
                  <c:pt idx="1">
                    <c:v>Phase-2 (Jul'26)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H₂-ICE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Phase-1 (Mar'25)</c:v>
                  </c:pt>
                  <c:pt idx="1">
                    <c:v>Phase-2 (Jul'26)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pto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C55A1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Fuel Cell (35)</c:v>
                </c:pt>
                <c:pt idx="1">
                  <c:v>H₂-ICE (35)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Tata+ IOCL</c:v>
                  </c:pt>
                  <c:pt idx="1">
                    <c:v>RIL+ AL</c:v>
                  </c:pt>
                  <c:pt idx="2">
                    <c:v>NTPC+ AL</c:v>
                  </c:pt>
                  <c:pt idx="3">
                    <c:v>ANERT+ BPCL</c:v>
                  </c:pt>
                  <c:pt idx="4">
                    <c:v>HPCL+ Volvo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10</c:v>
                </c:pt>
                <c:pt idx="2">
                  <c:v>6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C55A1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Fuel Cell (15)</c:v>
                </c:pt>
                <c:pt idx="1">
                  <c:v>H₂-ICE (22)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</c:v>
                </c:pt>
                <c:pt idx="1">
                  <c:v>22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ANERT- KSRTC</c:v>
                  </c:pt>
                  <c:pt idx="1">
                    <c:v>EKA- KPIT</c:v>
                  </c:pt>
                  <c:pt idx="2">
                    <c:v>KPI Green</c:v>
                  </c:pt>
                  <c:pt idx="3">
                    <c:v>Waaree</c:v>
                  </c:pt>
                  <c:pt idx="4">
                    <c:v>NTPC Green</c:v>
                  </c:pt>
                  <c:pt idx="5">
                    <c:v>VECV- BPCL</c:v>
                  </c:pt>
                  <c:pt idx="6">
                    <c:v>NHPC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51.5</c:v>
                </c:pt>
                <c:pt idx="1">
                  <c:v>44.8</c:v>
                </c:pt>
                <c:pt idx="2">
                  <c:v>43.4</c:v>
                </c:pt>
                <c:pt idx="3">
                  <c:v>28.8</c:v>
                </c:pt>
                <c:pt idx="4">
                  <c:v>26.6</c:v>
                </c:pt>
                <c:pt idx="5">
                  <c:v>5.9</c:v>
                </c:pt>
                <c:pt idx="6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FC Bus</c:v>
                  </c:pt>
                  <c:pt idx="1">
                    <c:v>FC Truck</c:v>
                  </c:pt>
                  <c:pt idx="2">
                    <c:v>H₂-ICE Truck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3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3A7D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Madhya Pradesh</c:v>
                  </c:pt>
                  <c:pt idx="1">
                    <c:v>Gujarat*</c:v>
                  </c:pt>
                  <c:pt idx="2">
                    <c:v>Kerala</c:v>
                  </c:pt>
                  <c:pt idx="3">
                    <c:v>Himachal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Mobility</c:v>
                  </c:pt>
                  <c:pt idx="1">
                    <c:v>Steel</c:v>
                  </c:pt>
                  <c:pt idx="2">
                    <c:v>Hubs</c:v>
                  </c:pt>
                  <c:pt idx="3">
                    <c:v>R&amp;D</c:v>
                  </c:pt>
                  <c:pt idx="4">
                    <c:v>Shipping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496</c:v>
                </c:pt>
                <c:pt idx="1">
                  <c:v>455</c:v>
                </c:pt>
                <c:pt idx="2">
                  <c:v>400</c:v>
                </c:pt>
                <c:pt idx="3">
                  <c:v>400</c:v>
                </c:pt>
                <c:pt idx="4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Mirai Gen-1 (2014)</c:v>
                  </c:pt>
                  <c:pt idx="1">
                    <c:v>Nexo Gen-1 (2018)</c:v>
                  </c:pt>
                  <c:pt idx="2">
                    <c:v>Mirai Gen-2 (2020)</c:v>
                  </c:pt>
                  <c:pt idx="3">
                    <c:v>Nexo Gen-2 (2025)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</c:v>
                </c:pt>
                <c:pt idx="1">
                  <c:v>95</c:v>
                </c:pt>
                <c:pt idx="2">
                  <c:v>128</c:v>
                </c:pt>
                <c:pt idx="3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3A7D22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Mirai Gen-1</c:v>
                  </c:pt>
                  <c:pt idx="1">
                    <c:v>Nexo Gen-1</c:v>
                  </c:pt>
                  <c:pt idx="2">
                    <c:v>Mirai Gen-2</c:v>
                  </c:pt>
                  <c:pt idx="3">
                    <c:v>CR-V e:FCEV</c:v>
                  </c:pt>
                  <c:pt idx="4">
                    <c:v>Nexo Gen-2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6.33</c:v>
                </c:pt>
                <c:pt idx="2">
                  <c:v>5.6</c:v>
                </c:pt>
                <c:pt idx="3">
                  <c:v>4.3</c:v>
                </c:pt>
                <c:pt idx="4">
                  <c:v>6.69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Mirai Gen-2</c:v>
                  </c:pt>
                  <c:pt idx="1">
                    <c:v>Mirai Gen-1</c:v>
                  </c:pt>
                  <c:pt idx="2">
                    <c:v>Nexo Gen-1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0.94</c:v>
                </c:pt>
                <c:pt idx="2">
                  <c:v>1.02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China</c:v>
                  </c:pt>
                  <c:pt idx="1">
                    <c:v>Europe</c:v>
                  </c:pt>
                  <c:pt idx="2">
                    <c:v>USA</c:v>
                  </c:pt>
                  <c:pt idx="3">
                    <c:v>Others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0000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bubble3D val="0"/>
            <c:spPr>
              <a:solidFill>
                <a:srgbClr val="C55A11"/>
              </a:solidFill>
              <a:effectLst/>
            </c:spPr>
          </c:dPt>
          <c:dPt>
            <c:idx val="4"/>
            <c:bubble3D val="0"/>
            <c:spPr>
              <a:solidFill>
                <a:srgbClr val="3A7D22"/>
              </a:solidFill>
              <a:effectLst/>
            </c:spPr>
          </c:dPt>
          <c:dPt>
            <c:idx val="5"/>
            <c:bubble3D val="0"/>
            <c:spPr>
              <a:solidFill>
                <a:srgbClr val="A6A6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pto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China</c:v>
                </c:pt>
                <c:pt idx="1">
                  <c:v>S. Korea</c:v>
                </c:pt>
                <c:pt idx="2">
                  <c:v>Japan</c:v>
                </c:pt>
                <c:pt idx="3">
                  <c:v>Germany</c:v>
                </c:pt>
                <c:pt idx="4">
                  <c:v>USA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384</c:v>
                </c:pt>
                <c:pt idx="1">
                  <c:v>198</c:v>
                </c:pt>
                <c:pt idx="2">
                  <c:v>161</c:v>
                </c:pt>
                <c:pt idx="3">
                  <c:v>113</c:v>
                </c:pt>
                <c:pt idx="4">
                  <c:v>89</c:v>
                </c:pt>
                <c:pt idx="5">
                  <c:v>215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EV public charging points</c:v>
                  </c:pt>
                  <c:pt idx="1">
                    <c:v>H₂ stations sanctioned (NGHM)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52718</c:v>
                </c:pt>
                <c:pt idx="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Earmarked (to FY26)</c:v>
                  </c:pt>
                  <c:pt idx="1">
                    <c:v>Sanctioned</c:v>
                  </c:pt>
                  <c:pt idx="2">
                    <c:v>Released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496</c:v>
                </c:pt>
                <c:pt idx="1">
                  <c:v>410.8</c:v>
                </c:pt>
                <c:pt idx="2">
                  <c:v>41.6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0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Platinum (S. Africa)</c:v>
                  </c:pt>
                  <c:pt idx="1">
                    <c:v>Iridium (S. Africa)</c:v>
                  </c:pt>
                  <c:pt idx="2">
                    <c:v>Palladium (Russia)</c:v>
                  </c:pt>
                  <c:pt idx="3">
                    <c:v>Rare-earth proc. (China)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80</c:v>
                </c:pt>
                <c:pt idx="2">
                  <c:v>44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ICE (120 °C coolant)</c:v>
                  </c:pt>
                  <c:pt idx="1">
                    <c:v>FCEV (80 °C stack)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ICE</c:v>
                  </c:pt>
                  <c:pt idx="1">
                    <c:v>FCEV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697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Study Report 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82880" y="3108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0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pPr algn="ctr" indent="0" marL="0">
              <a:buNone/>
            </a:pPr>
            <a:r>
              <a:rPr lang="en-US" sz="5000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YDROGEN </a:t>
            </a:r>
            <a:pPr algn="ctr" indent="0" marL="0">
              <a:buNone/>
            </a:pPr>
            <a:r>
              <a:rPr lang="en-US" sz="5000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pPr algn="ctr" indent="0" marL="0">
              <a:buNone/>
            </a:pPr>
            <a:r>
              <a:rPr lang="en-US" sz="5000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EHICLE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069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Electric Vehicles (FCEV) &amp; Hydrogen Mobility</a:t>
            </a:r>
            <a:endParaRPr lang="en-US" sz="1500" dirty="0"/>
          </a:p>
        </p:txBody>
      </p:sp>
      <p:pic>
        <p:nvPicPr>
          <p:cNvPr id="5" name="Image 0" descr="Illustration of a hydrogen fuel cell car with H2 symbol and water-vapour exhau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566928"/>
            <a:ext cx="50292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1.a Vehicles: Global Hydrogen (FCEV) Outlook – CY 2025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0" y="164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figures in units (Nos.)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7772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FCEV Sales by Country 2025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2377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144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~16,011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FCEV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0" y="1719072"/>
            <a:ext cx="14630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53512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7,797 Nos.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2176272"/>
            <a:ext cx="146304" cy="14630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53512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 Korea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6,802 Nos.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2633472"/>
            <a:ext cx="146304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53512" y="2560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of World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1,412 Nos.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78808" y="73152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24528" y="777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FCEV Sales 2020 – 2025 (Nos.)</a:t>
            </a:r>
            <a:endParaRPr lang="en-US" sz="13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270248" y="109728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8220456" y="731520"/>
            <a:ext cx="373989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66176" y="77724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Countries – FCEV Sales 2024 vs 2025</a:t>
            </a:r>
            <a:endParaRPr lang="en-US" sz="1300" dirty="0"/>
          </a:p>
        </p:txBody>
      </p:sp>
      <p:graphicFrame>
        <p:nvGraphicFramePr>
          <p:cNvPr id="19" name="Chart 2" descr=""/>
          <p:cNvGraphicFramePr/>
          <p:nvPr/>
        </p:nvGraphicFramePr>
        <p:xfrm>
          <a:off x="8293608" y="1097280"/>
          <a:ext cx="359359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Shape 15"/>
          <p:cNvSpPr/>
          <p:nvPr/>
        </p:nvSpPr>
        <p:spPr>
          <a:xfrm>
            <a:off x="228600" y="3520440"/>
            <a:ext cx="38404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4320" y="35661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FCEV vs Battery EV – World Sales 2025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11480" y="39776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11480" y="40507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~0.16 L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FCEV sold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2240280" y="39776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240280" y="40507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~207 L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BEV + PHEV sold</a:t>
            </a:r>
            <a:endParaRPr lang="en-US" sz="2600" dirty="0"/>
          </a:p>
        </p:txBody>
      </p:sp>
      <p:sp>
        <p:nvSpPr>
          <p:cNvPr id="26" name="Text 21"/>
          <p:cNvSpPr txBox="1"/>
          <p:nvPr/>
        </p:nvSpPr>
        <p:spPr>
          <a:xfrm>
            <a:off x="411480" y="5166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FCEV = </a:t>
            </a:r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&lt;0.1%</a:t>
            </a:r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electric-vehicle sales; 1 FCEV sold for every ~1,300 plug-in EVs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178808" y="3520440"/>
            <a:ext cx="39319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224528" y="3566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Refuelling Stations – End 2024</a:t>
            </a:r>
            <a:endParaRPr lang="en-US" sz="1300" dirty="0"/>
          </a:p>
        </p:txBody>
      </p:sp>
      <p:graphicFrame>
        <p:nvGraphicFramePr>
          <p:cNvPr id="29" name="Chart 3" descr=""/>
          <p:cNvGraphicFramePr/>
          <p:nvPr/>
        </p:nvGraphicFramePr>
        <p:xfrm>
          <a:off x="4270248" y="3886200"/>
          <a:ext cx="3749040" cy="2075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Text 24"/>
          <p:cNvSpPr txBox="1"/>
          <p:nvPr/>
        </p:nvSpPr>
        <p:spPr>
          <a:xfrm>
            <a:off x="6373368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World: 1,160 stations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456" y="3520440"/>
          <a:ext cx="3739896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051560"/>
                <a:gridCol w="1115568"/>
                <a:gridCol w="116128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OEM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Model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2025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Hyundai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Nexo (Gen-2)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7,047 ▲58%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Toyota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Mirai, Crown FCEV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1,257 ▼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Honda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CR-V e:FCEV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Chinese CV makers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 buses &amp; trucks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~7,800 (CN)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5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+ Korea = 91% of FCEV sales. China's volume is mainly buses &amp; trucks; Korea's is Hyundai Nexo cars. Japan &amp; USA fell ~37%.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SNE Research via Argus Media &amp; Asia Economy (Feb 2026) – FCEV sales 2020–25; H2stations.org / LBST (Feb 2025) – refuelling stations; IEA Global EV Outlook 2026 – EV sales; IEA Global Hydrogen Review 2025. CN-China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1.b Vehicles: India Hydrogen Mobility Outlook – NGHM Pilots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0" y="164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Pilot-stage; no retail FCEV sales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7772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NGHM Transport Pilots –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2529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vehicles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22529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projects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23225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refuelling stations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194560" y="2286000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23225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₹411 cr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Govt. support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178808" y="73152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24528" y="777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Vehicles by Phase &amp; Technology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270248" y="109728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230368" y="1389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76288" y="1389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0456" y="731520"/>
            <a:ext cx="373989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66176" y="77724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Mix – All 70 Vehicles</a:t>
            </a:r>
            <a:endParaRPr lang="en-US" sz="13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8311896" y="1097280"/>
          <a:ext cx="21945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951976" y="1938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1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597896" y="1856232"/>
            <a:ext cx="14630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808208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Nos.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0597896" y="2404872"/>
            <a:ext cx="146304" cy="14630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808208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H₂-ICE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Nos.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20440"/>
          <a:ext cx="3840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Phase-1 Pilot Routes (7 of 10 – all in 1.c)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Greater Noida – Delhi – Agra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Sahibabad – Faridabad – Delhi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Ahmedabad – Vadodara – Surat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Jamnagar – Ahmedabad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 – Mumbai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Bhubaneswar – Konark – Puri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Jamshedpur – Kalinga Nagar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3"/>
          <p:cNvSpPr/>
          <p:nvPr/>
        </p:nvSpPr>
        <p:spPr>
          <a:xfrm>
            <a:off x="4178808" y="3520440"/>
            <a:ext cx="39319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224528" y="3566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Phase-1 Consortium Partners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4361688" y="3959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OEMs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361688" y="425196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361688" y="4251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Tata Motors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550408" y="425196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550408" y="4251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Ashok Leyland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739128" y="425196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739128" y="4251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Volvo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436168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&amp; H₂ supply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4361688" y="5047488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361688" y="50474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IOCL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550408" y="5047488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5550408" y="50474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BPCL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739128" y="5047488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739128" y="50474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HPCL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4361688" y="5504688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361688" y="5504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NTPC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5550408" y="5504688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550408" y="5504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Reliance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6739128" y="5504688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739128" y="5504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ANERT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8220456" y="3520440"/>
            <a:ext cx="373989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266176" y="356616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Green Hydrogen Mission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8357616" y="39593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₹19,744 cr</a:t>
            </a:r>
            <a:endParaRPr lang="en-US" sz="1400" dirty="0"/>
          </a:p>
        </p:txBody>
      </p:sp>
      <p:sp>
        <p:nvSpPr>
          <p:cNvPr id="53" name="Text 48"/>
          <p:cNvSpPr txBox="1"/>
          <p:nvPr/>
        </p:nvSpPr>
        <p:spPr>
          <a:xfrm>
            <a:off x="9793224" y="39593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outlay till FY 2029-30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8357616" y="44622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MMT / yr</a:t>
            </a:r>
            <a:endParaRPr lang="en-US" sz="1400" dirty="0"/>
          </a:p>
        </p:txBody>
      </p:sp>
      <p:sp>
        <p:nvSpPr>
          <p:cNvPr id="55" name="Text 50"/>
          <p:cNvSpPr txBox="1"/>
          <p:nvPr/>
        </p:nvSpPr>
        <p:spPr>
          <a:xfrm>
            <a:off x="9793224" y="44622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H₂ production target by 2030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8357616" y="4965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₹208 cr</a:t>
            </a:r>
            <a:endParaRPr lang="en-US" sz="1400" dirty="0"/>
          </a:p>
        </p:txBody>
      </p:sp>
      <p:sp>
        <p:nvSpPr>
          <p:cNvPr id="57" name="Text 52"/>
          <p:cNvSpPr txBox="1"/>
          <p:nvPr/>
        </p:nvSpPr>
        <p:spPr>
          <a:xfrm>
            <a:off x="9793224" y="49651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Phase-1 support (37 vehicles, 9 HRS)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8357616" y="546811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18–24 months</a:t>
            </a:r>
            <a:endParaRPr lang="en-US" sz="1400" dirty="0"/>
          </a:p>
        </p:txBody>
      </p:sp>
      <p:sp>
        <p:nvSpPr>
          <p:cNvPr id="59" name="Text 54"/>
          <p:cNvSpPr txBox="1"/>
          <p:nvPr/>
        </p:nvSpPr>
        <p:spPr>
          <a:xfrm>
            <a:off x="9793224" y="546811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commissioning timeline</a:t>
            </a:r>
            <a:endParaRPr lang="en-US" sz="1100" dirty="0"/>
          </a:p>
        </p:txBody>
      </p:sp>
      <p:sp>
        <p:nvSpPr>
          <p:cNvPr id="60" name="Text 55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India's H₂ mobility is still at pilot stage, led by buses &amp; heavy trucks. No FCEV car is on retail sale yet (Toyota Mirai pilot with ICAT since 2022).</a:t>
            </a:r>
            <a:endParaRPr lang="en-US" sz="1300" dirty="0"/>
          </a:p>
        </p:txBody>
      </p:sp>
      <p:sp>
        <p:nvSpPr>
          <p:cNvPr id="61" name="Text 56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PIB / MNRE press release (3 Mar 2025) – Phase-1 pilots; Electrive (10 Aug 2026) &amp; Renewable Watch (31 Jul 2026) – Phase-2 pilots; MNRE – National Green Hydrogen Mission. Other Phase-1 routes: Thiruvananthapuram–Kochi, Kochi–Edappally, Visakhapatnam–Bayyavaram.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1.c Vehicles: India H₂ Pilots – Phase-1 Routes (Mar 2025)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0" y="164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vehicles · 10 routes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3840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7772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Phase-1 Vehicles by Consortium (Nos.)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01752" y="1078992"/>
          <a:ext cx="3694176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178808" y="731520"/>
            <a:ext cx="3931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24528" y="777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Phase-1 Technology Mix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61688" y="1078992"/>
          <a:ext cx="16459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818888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81928" y="1581912"/>
            <a:ext cx="14630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Nos.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81928" y="2084832"/>
            <a:ext cx="146304" cy="14630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H₂-ICE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Nos.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0456" y="731520"/>
            <a:ext cx="37398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66176" y="77724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Phase-1 At a Glance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330184" y="1115568"/>
            <a:ext cx="171907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30184" y="1133856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projects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0113264" y="1115568"/>
            <a:ext cx="171907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113264" y="1133856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330184" y="1901952"/>
            <a:ext cx="171907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30184" y="1920240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refuelling stations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113264" y="1901952"/>
            <a:ext cx="171907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113264" y="1920240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₹208 cr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Govt. support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88920"/>
          <a:ext cx="117317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14600"/>
                <a:gridCol w="1417320"/>
                <a:gridCol w="2011680"/>
                <a:gridCol w="3108960"/>
                <a:gridCol w="22677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State(s)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Consortium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Vehicles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 cr · Refuelling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Greater Noida – Delhi – Agra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Delhi, UP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+ Ashok Leyland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FC buses (12 m) – routes 1 &amp; 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39.05 for both routes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Sahibabad – Faridabad – Delhi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UP, Haryana, Delhi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Motors + IOCL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FC buses + 14 trucks – routes 2–5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70.02 · IOCL HRS Faridabad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Ahmedabad – Vadodara – Surat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Motors + IOCL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(H₂-ICE &amp; FC trucks)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IOCL HRS Vadodara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 – Mumbai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Maharashtra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Motors + IOCL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IOCL HRS Pune (being set up)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Jamshedpur – Kalinga Nagar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Jharkhand, Odisha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Motors + IOCL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Within Tata–IOCL ₹70.02 cr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Bhubaneswar – Konark – Puri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Odisha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+ Ashok Leyland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with route 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H₂ unit at CRUT depot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Thiruvananthapuram – Kochi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Kerala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ANERT + BPCL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trucks (2 FC, 2 H₂-ICE) – routes 7 &amp; 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34.84 · HRS Muttathara 260 kg/d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Kochi – Edappally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Kerala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ANERT + BPCL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with route 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HRS Udyogamandal 260 kg/d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Jamnagar – Ahmedabad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Reliance + Ashok Leyland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buses (1 FC, 1 H₂-ICE) + 8 trucks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46.87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NH-16 Visakhapatnam – Bayyavaram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Andhra Pradesh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HPCL + Volvo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H₂-ICE truck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1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Tata Motors + IOCL hold 4 of 10 routes (16 vehicles); Phase-1 = 10 buses + 27 trucks for ₹207.91 cr – most trucks run on H₂-ICE.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Lok Sabha unstarred Q1648, MNRE reply (29 Jul 2026) – consortium, routes, vehicles &amp; ₹ sanctioned; PIB/MNRE (3 Mar 2025); The Week (May 2026) – IOCL stations; Indian Infrastructure (Aug 2025) – IOCL Pune; Construction World – Kerala HRS; PTI (24 Dec 2024) – Odisha.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1.d Vehicles: India H₂ Pilots – Phase-2 Projects (Jul 2026)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0" y="164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in ₹ crore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7772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Govt. Support by Project (₹ cr)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01752" y="1097280"/>
          <a:ext cx="3694176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178808" y="73152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24528" y="777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Phase-2 Vehicles by Type (Nos.)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270248" y="109728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220456" y="731520"/>
            <a:ext cx="373989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66176" y="77724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 by State (Nos.)</a:t>
            </a:r>
            <a:endParaRPr lang="en-US" sz="13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293608" y="1097280"/>
          <a:ext cx="359359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8311896" y="3182112"/>
            <a:ext cx="3557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*incl. Vapi–Nashik (MH) route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20440"/>
          <a:ext cx="117317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4389120"/>
                <a:gridCol w="2770632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 / Consortium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 (State)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Vehicles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 cr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ANERT, KSRTC, Tata Motors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Kochi–Kozhikode; Kochi–Thrissur–Palakkad (KL)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FC bus + 2 H₂-ICE truck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EKA Mobility, KPIT, BPCL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Bina–Bhopal / Jhansi / Sanchi (MP)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 FC bus + 2 FC truck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Green, Tata Motors, AB Process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Vadodara–Ankleshwar; Vapi–Nashik (GJ/MH)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H₂-ICE truck (55 t)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43.4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Waaree, Indify Horizon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Surat–Chikhli–Tumb (GJ)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FC bus + 1 FC truck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Green Energy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Kandla–Gandhidham (GJ)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FC bus (9 m)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 Commercial Vehicles, BPCL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Bina–Guna (MP)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FC bus + 5 H₂-ICE truck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NHPC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Chamba area (HP)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FC bus (9 m)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Phase-2: 33 vehicles, ₹202.9 cr (90% of cost). Trucks shift to H₂-ICE (13 of 16) – cheaper than fuel cells; Tata Motors is in 2 of 7 consortia.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Electrive – India to deploy 33 hydrogen commercial vehicles (10 Aug 2026); Renewable Watch (31 Jul 2026); MNRE / NGHM. Projects to be completed within 24 months of Letter of Award.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Policy: National Green Hydrogen Mission – Progress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601200" y="164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Outlay in ₹ crore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658368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Jan 2023 · ₹19,744 cr to FY 2029-30 · Target ≥ 5 MMT/yr green H₂ by 2030 · ~₹8 lakh cr investment · ~50 MMT/yr CO₂ avoided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7086600" cy="914400"/>
        </p:xfrm>
        <a:graphic>
          <a:graphicData uri="http://schemas.openxmlformats.org/drawingml/2006/table">
            <a:tbl>
              <a:tblPr/>
              <a:tblGrid>
                <a:gridCol w="2081689"/>
                <a:gridCol w="1151573"/>
                <a:gridCol w="1638776"/>
                <a:gridCol w="2214563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Outlay (₹ cr)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(Oct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SIGHT – electrolyser manufacturing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17,490 (SIGHT total)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electrolyser factories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3,000 MW/yr awarded to 15 companies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SIGHT – green H₂ production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within SIGHT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Incentive per kg of green H₂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8.62 lakh TPA awarded; ~8,000 TPA running (Feb'26)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– mobility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 buses, trucks &amp; stations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 projects · 70 vehicles · 16 HRS; ₹41.6 cr released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– steel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 in steelmaking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projects; ₹84 cr sanctioned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– shipping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Green-fuel bunkering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VOC Port methanol pilot (₹38.1 cr)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Hydrogen hubs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Port-based H₂ clusters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port hubs; 4 Hydrogen Valley clusters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Mission R&amp;D + start-ups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₹113 cr roadmap; 9 start-ups (₹22 cr)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19,744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5 MMT/yr by 2030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Skilling: 8,149 trained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005840"/>
            <a:ext cx="1042416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₹17,490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SIGHT (89%)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27364" y="1005840"/>
            <a:ext cx="1042416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27364" y="100584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₹1,466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Pilots &amp; hubs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756648" y="1005840"/>
            <a:ext cx="1042416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56648" y="100584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₹400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0885932" y="1005840"/>
            <a:ext cx="1042416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85932" y="100584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₹388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498080" y="1828800"/>
            <a:ext cx="44622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43800" y="1874520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Pilot, hub &amp; R&amp;D outlays (₹ crore)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571232" y="2176272"/>
          <a:ext cx="4315968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7498080" y="402336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hubs &amp; valley clusters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4315968"/>
          <a:ext cx="44622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3080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 hub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Deendayal (Kandla), GJ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MW Indian-built plant, Jul 2025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 hub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V.O. Chidambaranar, TN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Recognised; methanol pilot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 hub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Paradip, Odisha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Recognised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Valley clusters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Jodhpur, Odisha, Pune, Kerala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HVICs awarded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SIGHT takes 89% of the budget – India funds hydrogen supply first; vehicles get ~2.5% through the ₹496 cr mobility pilot.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PIB – NGHM progress (28 Oct 2026); Cabinet approval – component outlays (4 Jan 2023); Lok Sabha unstarred Q1648 (29 Jul 2026). Pilot &amp; hub outlays shown to FY 2025-26.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 Between ICE vs BEV vs FCEV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117317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3108960"/>
                <a:gridCol w="34107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ICE · internal combustion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BEV · battery electric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FCEV · fuel cell electric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source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Petrol or diesel, bought by the litre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Electricity, bought by the kilowatt-hour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Hydrogen gas, bought by the kilogram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stored on board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≈45 litre tank — about 400 kWh of chemical energy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40–60 kWh in a lithium-ion pack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5.6 kg H₂ at 700 bar ≈ 187 kWh (Toyota Mirai)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path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Chemical → heat → mechanical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Chemical → electrical → mechanical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Chemical (H₂) → electrical (fuel cell) → mechanical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Converter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Engine: hundreds of controlled ignitions per second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Motor: one rotating shaft, no combustion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Fuel-cell stack + small buffer battery + motor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Refuel / recharge time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few minutes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~35 min for 10–80% on a DC fast charger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3–5 minutes at 700 bar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reaching the wheels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12–30% (tank-to-wheel)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 77% (grid-to-wheel, including regen)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40–50% (tank-to-wheel)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Tailpipe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CO₂, NOx and particulates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 vapour only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Waste heat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— radiator plus hot exhaust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 — mainly keeps the pack in range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heat goes to the coolant; radiator ~2× an ICE's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in India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Mass market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Growing — 24.3 lakh EVs sold in FY26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Pilots only — no FCEV car on sale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B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" y="5440680"/>
            <a:ext cx="11731752" cy="5486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544068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line: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FCEV refuels like a petrol car and drives like an EV — but turns hydrogen into motion at roughly half a battery car's efficiency.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ICE &amp; BEV values from the EV study deck; EVreporter (Feb 2026) – FC tank-to-wheel 40–50%; Hyfindr – 3–5 min fill at 700 bar; Toyota UK – Mirai 5.6 kg (×33.3 kWh/kg LHV); FutureBridge – FCEV cooling load; EVreporter – FY26 EV sales.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Vehicle Types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1173175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468880"/>
                <a:gridCol w="2468880"/>
                <a:gridCol w="2423160"/>
                <a:gridCol w="24963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H₂-ICE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FCEV (car)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A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Plug-in FCEV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A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 hybrid bus / truck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A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drives the wheels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engine burning H₂ (spark ignition)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Electric motor; fuel cell is the main power source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Motor; battery for short trips, fuel cell for long 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Motor; fuel cell plus a Li-ion pack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 cell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— 95–128 kW in cars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source once battery is 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~70 kW (Tata–IOCL bus)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 V only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1.6–2.6 kWh buffer (Nexo)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17.7 kWh (Honda CR-V e:FCEV)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Li-ion pack, size varies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Electric-only range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Minimal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~47 km (29 miles)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— battery assists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you plug it in?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Depends on design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Tailpipe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 + some NOx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Efficiency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Diesel-like (engine-limited)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40–50% tank-to-wheel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~80%+ on battery miles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Similar to FCEV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Complexity and cost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Lowest: reuses diesel engine lines; no Pt or rare earths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+ 700 bar tanks are costly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+ bigger battery + charger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+ battery + 350 bar roof tanks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Tata, Reliance–Ashok Leyland, VECV trucks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Toyota Mirai, Hyundai Nexo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Honda CR-V e:FCEV (2024)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Tata–IOCL bus: 30 kg H₂, 300+ km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India stands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 of 70 NGHM pilot vehicles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car on sale; Mirai pilot with ICAT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available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 FC buses + FC trucks in NGHM pilots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EVreporter (Feb 2026) – H₂-ICE &amp; FC efficiency; Paultan (Apr 2025) – Nexo; Green Car Reports – CR-V e:FCEV; The Week (May 2026) – Tata–IOCL bus; Lok Sabha Q1648 (29 Jul 2026) – NGHM pilot mix (35 FC / 35 H₂-ICE).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Basics of Fuel Cell Electrochemistry &amp; Cell Working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34440" y="2240280"/>
            <a:ext cx="1143000" cy="2148840"/>
          </a:xfrm>
          <a:prstGeom prst="rect">
            <a:avLst/>
          </a:prstGeom>
          <a:solidFill>
            <a:srgbClr val="5B9B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2240280"/>
            <a:ext cx="73152" cy="2148840"/>
          </a:xfrm>
          <a:prstGeom prst="rect">
            <a:avLst/>
          </a:prstGeom>
          <a:solidFill>
            <a:srgbClr val="26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50592" y="2240280"/>
            <a:ext cx="868680" cy="2148840"/>
          </a:xfrm>
          <a:prstGeom prst="rect">
            <a:avLst/>
          </a:prstGeom>
          <a:solidFill>
            <a:srgbClr val="F2C1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19272" y="2240280"/>
            <a:ext cx="73152" cy="2148840"/>
          </a:xfrm>
          <a:prstGeom prst="rect">
            <a:avLst/>
          </a:prstGeom>
          <a:solidFill>
            <a:srgbClr val="26262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92424" y="2240280"/>
            <a:ext cx="1143000" cy="2148840"/>
          </a:xfrm>
          <a:prstGeom prst="rect">
            <a:avLst/>
          </a:prstGeom>
          <a:solidFill>
            <a:srgbClr val="7E57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6544" y="2651760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6544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2807208"/>
            <a:ext cx="1106424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66544" y="3246120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66544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95728" y="3401568"/>
            <a:ext cx="1106424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66544" y="3840480"/>
            <a:ext cx="310896" cy="3108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66544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95728" y="3995928"/>
            <a:ext cx="1106424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450592" y="2267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H⁺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3134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catalyst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splits H₂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66744" y="38862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catalyst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water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914400" cy="0"/>
          </a:xfrm>
          <a:prstGeom prst="line">
            <a:avLst/>
          </a:prstGeom>
          <a:noFill/>
          <a:ln w="25400">
            <a:solidFill>
              <a:srgbClr val="3A7D2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743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320040" y="4023360"/>
            <a:ext cx="914400" cy="0"/>
          </a:xfrm>
          <a:prstGeom prst="line">
            <a:avLst/>
          </a:prstGeom>
          <a:noFill/>
          <a:ln w="19050">
            <a:solidFill>
              <a:srgbClr val="3A7D2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28600" y="4069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Unused H₂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(recirculated)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H="1">
            <a:off x="4535424" y="2651760"/>
            <a:ext cx="914400" cy="0"/>
          </a:xfrm>
          <a:prstGeom prst="line">
            <a:avLst/>
          </a:prstGeom>
          <a:noFill/>
          <a:ln w="25400">
            <a:solidFill>
              <a:srgbClr val="5E35B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581144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35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(O₂) 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35424" y="4023360"/>
            <a:ext cx="914400" cy="0"/>
          </a:xfrm>
          <a:prstGeom prst="line">
            <a:avLst/>
          </a:prstGeom>
          <a:noFill/>
          <a:ln w="19050">
            <a:solidFill>
              <a:srgbClr val="5E35B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581144" y="4069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+ air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83080" y="1143000"/>
            <a:ext cx="0" cy="109728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3080" y="1143000"/>
            <a:ext cx="2203704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86784" y="1143000"/>
            <a:ext cx="0" cy="109728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38044" y="896112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8044" y="896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874520" y="841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Electrons (e⁻)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186684" y="841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4462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Anode (−)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130552" y="4462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Membrane (PFSA)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392424" y="4462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Cathode (+)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98348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E8F6F0"/>
          </a:solidFill>
          <a:ln w="12700">
            <a:solidFill>
              <a:srgbClr val="00A3A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501091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Anode:  H₂ → 2H⁺ + 2e⁻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Cathode:  ½O₂ + 2H⁺ + 2e⁻ → H₂O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Overall:  H₂ + ½O₂ → H₂O + electricity + heat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vs battery: energy and power are separate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675120" y="1463040"/>
            <a:ext cx="1554480" cy="2286000"/>
          </a:xfrm>
          <a:prstGeom prst="roundRect">
            <a:avLst>
              <a:gd name="adj" fmla="val 23529"/>
            </a:avLst>
          </a:prstGeom>
          <a:solidFill>
            <a:srgbClr val="D6E6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0" y="146304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tank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ENERGY (kWh)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kg H₂ = 33.3 kWh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75320" y="2606040"/>
            <a:ext cx="50292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69680" y="1828800"/>
            <a:ext cx="109728" cy="1554480"/>
          </a:xfrm>
          <a:prstGeom prst="rect">
            <a:avLst/>
          </a:prstGeom>
          <a:solidFill>
            <a:srgbClr val="8EA9C1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25128" y="1828800"/>
            <a:ext cx="109728" cy="1554480"/>
          </a:xfrm>
          <a:prstGeom prst="rect">
            <a:avLst/>
          </a:prstGeom>
          <a:solidFill>
            <a:srgbClr val="F2C14E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0576" y="1828800"/>
            <a:ext cx="109728" cy="1554480"/>
          </a:xfrm>
          <a:prstGeom prst="rect">
            <a:avLst/>
          </a:prstGeom>
          <a:solidFill>
            <a:srgbClr val="8EA9C1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36024" y="1828800"/>
            <a:ext cx="109728" cy="1554480"/>
          </a:xfrm>
          <a:prstGeom prst="rect">
            <a:avLst/>
          </a:prstGeom>
          <a:solidFill>
            <a:srgbClr val="F2C14E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91472" y="1828800"/>
            <a:ext cx="109728" cy="1554480"/>
          </a:xfrm>
          <a:prstGeom prst="rect">
            <a:avLst/>
          </a:prstGeom>
          <a:solidFill>
            <a:srgbClr val="8EA9C1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46920" y="1828800"/>
            <a:ext cx="109728" cy="1554480"/>
          </a:xfrm>
          <a:prstGeom prst="rect">
            <a:avLst/>
          </a:prstGeom>
          <a:solidFill>
            <a:srgbClr val="F2C14E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02368" y="1828800"/>
            <a:ext cx="109728" cy="1554480"/>
          </a:xfrm>
          <a:prstGeom prst="rect">
            <a:avLst/>
          </a:prstGeom>
          <a:solidFill>
            <a:srgbClr val="8EA9C1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57816" y="1828800"/>
            <a:ext cx="109728" cy="1554480"/>
          </a:xfrm>
          <a:prstGeom prst="rect">
            <a:avLst/>
          </a:prstGeom>
          <a:solidFill>
            <a:srgbClr val="F2C14E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13264" y="1828800"/>
            <a:ext cx="109728" cy="1554480"/>
          </a:xfrm>
          <a:prstGeom prst="rect">
            <a:avLst/>
          </a:prstGeom>
          <a:solidFill>
            <a:srgbClr val="8EA9C1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68680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POWER (kW)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64108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in series = VOLTAGE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378440" y="2606040"/>
            <a:ext cx="5486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972800" y="224028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9728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0" y="40690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Bigger tank = more range; bigger stack = more power. They are sized separately — in a battery, the same cells set both.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cell gives 1.23 V in theory and ~0.6–0.8 V under load, so hundreds are stacked in series. Mirai Gen-2: 330 cells, 128 kW.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makes power only while H₂ and air flow; a small battery covers start-up, peaks and regenerative braking.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empty = kWh in the tank ÷ kW drawn — just like a battery, but refilled in minutes.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US DOE – Comparison of Fuel Cell Technologies; Toyota UK – Mirai Gen-2 (330 cells, 128 kW); hydrogen LHV 33.3 kWh/kg; cell voltages are standard PEM electrochemistry values.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3.a Fuel Cell: Five generations of the fuel-cell car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10698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1966 – 1990s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1280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lab cars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1572768"/>
            <a:ext cx="2240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GM's Electrovan (1966) was the first fuel-cell road vehicle — a one-off that proved the idea but was far from practical.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8346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BACK BY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Size, weight and cost; stacks were laboratory hardware.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 Electrovan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28316" y="822960"/>
            <a:ext cx="0" cy="3063240"/>
          </a:xfrm>
          <a:prstGeom prst="line">
            <a:avLst/>
          </a:prstGeom>
          <a:noFill/>
          <a:ln w="1905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92324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92324" y="10698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2002 – 2012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592324" y="1280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fleets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592324" y="1572768"/>
            <a:ext cx="2240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Honda FCX and Toyota FCHV (2002) were leased to governments; Honda FCX Clarity (2008) was the first designed for mass production.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592324" y="28346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BACK BY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592324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Almost no stations; hand-built, very expensive cars.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592324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Honda FCX Clarity · Toyota FCHV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822960"/>
            <a:ext cx="0" cy="3063240"/>
          </a:xfrm>
          <a:prstGeom prst="line">
            <a:avLst/>
          </a:prstGeom>
          <a:noFill/>
          <a:ln w="19050">
            <a:solidFill>
              <a:srgbClr val="BDD7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56048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10698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2013 – 2017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56048" y="1280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series production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956048" y="1572768"/>
            <a:ext cx="2240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Hyundai ix35 FCEV (2013) and Toyota Mirai (Dec 2014) were built in volume. Mirai Gen-1: 114 kW stack, 4.6 kg H₂.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56048" y="28346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BACK BY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refuelling networks and high stack cost.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956048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Hyundai ix35 · Toyota Mirai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55764" y="822960"/>
            <a:ext cx="0" cy="3063240"/>
          </a:xfrm>
          <a:prstGeom prst="line">
            <a:avLst/>
          </a:prstGeom>
          <a:noFill/>
          <a:ln w="19050">
            <a:solidFill>
              <a:srgbClr val="BDD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9772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19772" y="10698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2018 – 2023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19772" y="1280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generation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9772" y="1572768"/>
            <a:ext cx="2240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Hyundai Nexo (2018): 95 kW, 6.33 kg, 666 km. Mirai Gen-2 (2020): 128 kW, 5.4 kW/L, 5.6 kg, 58% less Pt per kW.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9772" y="28346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BACK BY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319772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price and station closures; world sales peaked at 20,704 in 2022.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19772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Hyundai Nexo · Mirai Gen-2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19488" y="822960"/>
            <a:ext cx="0" cy="3063240"/>
          </a:xfrm>
          <a:prstGeom prst="line">
            <a:avLst/>
          </a:prstGeom>
          <a:noFill/>
          <a:ln w="19050">
            <a:solidFill>
              <a:srgbClr val="BDD7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83496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683496" y="10698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– now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83496" y="1280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Plug-in &amp; next gen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683496" y="1572768"/>
            <a:ext cx="2240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Honda CR-V e:FCEV (2024) adds a 17.7 kWh plug-in battery. Nexo Gen-2 (2025): 110 kW, 6.69 kg, 700+ km.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683496" y="28346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BACK BY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683496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~16,000 sold worldwide in 2025; focus is shifting to trucks and buses.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683496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Honda CR-V e:FCEV · Nexo Gen-2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3931920"/>
            <a:ext cx="11731752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023360"/>
            <a:ext cx="57607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74320" y="40690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Fuel-cell stack power (kW)</a:t>
            </a:r>
            <a:endParaRPr lang="en-US" sz="13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301752" y="4352544"/>
          <a:ext cx="5614416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Shape 43"/>
          <p:cNvSpPr/>
          <p:nvPr/>
        </p:nvSpPr>
        <p:spPr>
          <a:xfrm>
            <a:off x="6199632" y="4023360"/>
            <a:ext cx="57607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245352" y="40690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stored on board (kg)</a:t>
            </a:r>
            <a:endParaRPr lang="en-US" sz="1300" dirty="0"/>
          </a:p>
        </p:txBody>
      </p:sp>
      <p:graphicFrame>
        <p:nvGraphicFramePr>
          <p:cNvPr id="48" name="Chart 1" descr=""/>
          <p:cNvGraphicFramePr/>
          <p:nvPr/>
        </p:nvGraphicFramePr>
        <p:xfrm>
          <a:off x="6272784" y="4352544"/>
          <a:ext cx="5614416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Text 45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Mirai Gen-2 packs 12% more power into a 27% smaller, 41% lighter stack (24 L, 24 kg) with 58% less platinum per kW than Gen-1.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Wikipedia – Fuel cell vehicle (history); JSME award – Toyota 2nd-gen FC system; Toyota UK – Mirai Gen-2; Paultan (Apr 2025) – Nexo Gen-1/Gen-2; Green Car Reports – CR-V e:FCEV; SNE Research via Asia Economy – world sales.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3.b Fuel Cell: Types &amp; mechanism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117317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777240"/>
                <a:gridCol w="1143000"/>
                <a:gridCol w="1143000"/>
                <a:gridCol w="1143000"/>
                <a:gridCol w="2377440"/>
                <a:gridCol w="19476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ELECTROLYTE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CARRIER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TEMPERATURE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EFFICIENCY (LHV)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SIZE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HOLDS IT BACK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VEHICLES?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PEMFC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Polymer membrane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Perfluorosulfonic acid membrane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H⁺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120 °C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60% (direct H₂)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 – 100 kW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Expensive Pt catalyst; sensitive to fuel impurities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 — every FCEV car, bus &amp; truck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Alkaline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KOH solution or alkaline membrane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OH⁻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100 °C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– 100 kW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CO₂ in fuel and air poisons the electrolyte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Space &amp; military; niche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PAFC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Phosphoric acid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Phosphoric acid in a matrix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H⁺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 – 200 °C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– 400 kW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Expensive catalyst; long start-up; sulphur sensitive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— stationary CHP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MCFC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Molten carbonate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Molten Li/Na/K carbonates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CO₃²⁻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600 – 700 °C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 kW – 3 MW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Hot corrosion; long start-up; low power density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— utility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SOFC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Solid oxide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Yttria-stabilised zirconia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O²⁻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 – 1,000 °C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kW – 2 MW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Hot corrosion; long start-up; few shutdowns allowed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Rare — auxiliary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28600" y="4297680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PEM wins in vehicles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28600" y="461772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01752" y="4663440"/>
            <a:ext cx="3648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fast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below 120 °C, so it reaches power in seconds — high-temperature types take hours to warm up.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97096" y="461772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70248" y="4663440"/>
            <a:ext cx="3648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 membrane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liquid electrolyte to leak or manage; the solid polymer limits corrosion inside the stack.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65592" y="4617720"/>
            <a:ext cx="3794760" cy="1280160"/>
          </a:xfrm>
          <a:prstGeom prst="roundRect">
            <a:avLst>
              <a:gd name="adj" fmla="val 428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38744" y="4663440"/>
            <a:ext cx="3648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&amp; responsive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Follows load changes quickly and packs high power into little space — Mirai Gen-2 reaches 5.4 kW per litre.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 is the only fuel cell that starts fast enough and is compact enough for vehicles – the others suit stationary power.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US DOE Hydrogen &amp; Fuel Cell Technologies Office – Comparison of Fuel Cell Technologies fact sheet; JSME – Toyota 2nd-gen stack (5.4 kW/L).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3.c Hydrogen Tank: 350 bar or 700 bar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754880" cy="1280160"/>
          </a:xfrm>
          <a:prstGeom prst="roundRect">
            <a:avLst>
              <a:gd name="adj" fmla="val 35714"/>
            </a:avLst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1005840"/>
            <a:ext cx="4535424" cy="1097280"/>
          </a:xfrm>
          <a:prstGeom prst="roundRect">
            <a:avLst>
              <a:gd name="adj" fmla="val 41667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15568"/>
            <a:ext cx="4297680" cy="877824"/>
          </a:xfrm>
          <a:prstGeom prst="roundRect">
            <a:avLst>
              <a:gd name="adj" fmla="val 52083"/>
            </a:avLst>
          </a:prstGeom>
          <a:solidFill>
            <a:srgbClr val="BDD7EE"/>
          </a:solidFill>
          <a:ln w="12700">
            <a:solidFill>
              <a:srgbClr val="8EA9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15568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at 350 / 700 bar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74920" y="1371600"/>
            <a:ext cx="41148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3212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Boss + in-tank valve + TPRD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Polymer liner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holds the gas (Type IV)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Carbon-fibre wrap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carries the pressure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protection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86868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fuel. Same fuel cell. Only the storage pressure differs.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463040"/>
            <a:ext cx="4828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one choice sets how much hydrogen fits, how heavy the tanks are and how complex the station must be — which is why cars use 700 bar and most buses use 350 bar.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43200"/>
          <a:ext cx="117317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7823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 bar (H35)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700 bar (H70)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use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City buses and many trucks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Passenger cars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Tata–IOCL bus: 30 kg H₂, 300+ km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Toyota Mirai: 5.6 kg in 3 tanks, ~650 km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Gas density (approx., 15 °C)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~24 kg/m³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~40 kg/m³ — about 1.7× more per litre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Tank type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 III (metal liner) or Type IV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 IV (polymer liner + carbon fibre)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it fits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Roof or chassis — space is plentiful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the floor and seats — space is tight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Fill time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Trucks: 8–20 min (Hyundai XCIENT)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3–5 min (SAE J2601 protocol)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 needs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 compression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 compression + pre-cooling; tank must stay below 85 °C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Safety devices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TPRD, in-tank solenoid valve, check valve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700 bar stores ~1.7× more hydrogen per litre than 350 bar – vital for cars, less so for buses with a whole roof to use.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The Week (May 2026) – Tata–IOCL bus; Toyota UK – Mirai Gen-2 tanks; Hyfindr – refuelling line (3–5 min, 85 °C limit); Wikipedia – XCIENT fill time; EVreporter – Type III/IV cylinders; densities are approximate NIST values.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Stack &amp; Hydrogen Tank Layout in the Vehicle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3794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8229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 (Toyota Mirai Gen-2)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971800" cy="640080"/>
          </a:xfrm>
          <a:prstGeom prst="roundRect">
            <a:avLst>
              <a:gd name="adj" fmla="val 42857"/>
            </a:avLst>
          </a:prstGeom>
          <a:solidFill>
            <a:srgbClr val="D9E1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618488"/>
            <a:ext cx="914400" cy="201168"/>
          </a:xfrm>
          <a:prstGeom prst="roundRect">
            <a:avLst>
              <a:gd name="adj" fmla="val 22727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508760"/>
            <a:ext cx="502920" cy="201168"/>
          </a:xfrm>
          <a:prstGeom prst="roundRect">
            <a:avLst>
              <a:gd name="adj" fmla="val 22727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737360"/>
            <a:ext cx="502920" cy="201168"/>
          </a:xfrm>
          <a:prstGeom prst="roundRect">
            <a:avLst>
              <a:gd name="adj" fmla="val 22727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554480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1874520"/>
            <a:ext cx="384048" cy="384048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874520"/>
            <a:ext cx="384048" cy="384048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" y="2423160"/>
            <a:ext cx="3575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in the front compartment (moved from under the cabin)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tanks: one in the centre tunnel, two under the rear seat and boot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84-cell Li-ion battery; 128 kW stack, 134 kW rear motor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kg H₂ at 700 bar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97096" y="777240"/>
            <a:ext cx="3794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42816" y="8229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bus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71416" y="1463040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D9E1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37176" y="1289304"/>
            <a:ext cx="502920" cy="182880"/>
          </a:xfrm>
          <a:prstGeom prst="roundRect">
            <a:avLst>
              <a:gd name="adj" fmla="val 2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4104" y="1289304"/>
            <a:ext cx="502920" cy="182880"/>
          </a:xfrm>
          <a:prstGeom prst="roundRect">
            <a:avLst>
              <a:gd name="adj" fmla="val 2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1289304"/>
            <a:ext cx="502920" cy="182880"/>
          </a:xfrm>
          <a:prstGeom prst="roundRect">
            <a:avLst>
              <a:gd name="adj" fmla="val 2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289304"/>
            <a:ext cx="502920" cy="182880"/>
          </a:xfrm>
          <a:prstGeom prst="roundRect">
            <a:avLst>
              <a:gd name="adj" fmla="val 2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16002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77456" y="1600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91456" y="2011680"/>
            <a:ext cx="365760" cy="3657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0296" y="2011680"/>
            <a:ext cx="365760" cy="365760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06824" y="2423160"/>
            <a:ext cx="3575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Tanks on the roof — plenty of space, and leaks rise away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and battery at the rear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Tata–IOCL: 30 kg H₂ at 350 bar, ~70 kW fuel cell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 kg H₂ per 10 km; 300+ km range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65592" y="777240"/>
            <a:ext cx="3794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11312" y="8229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truck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39912" y="137160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D9E1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77072" y="180136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77072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354312" y="1344168"/>
            <a:ext cx="320040" cy="201168"/>
          </a:xfrm>
          <a:prstGeom prst="roundRect">
            <a:avLst>
              <a:gd name="adj" fmla="val 22727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54312" y="1591056"/>
            <a:ext cx="320040" cy="201168"/>
          </a:xfrm>
          <a:prstGeom prst="roundRect">
            <a:avLst>
              <a:gd name="adj" fmla="val 22727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54312" y="1837944"/>
            <a:ext cx="320040" cy="201168"/>
          </a:xfrm>
          <a:prstGeom prst="roundRect">
            <a:avLst>
              <a:gd name="adj" fmla="val 22727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1371600"/>
            <a:ext cx="192024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2792" y="2011680"/>
            <a:ext cx="347472" cy="347472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77272" y="2011680"/>
            <a:ext cx="347472" cy="347472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83112" y="2011680"/>
            <a:ext cx="347472" cy="347472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75320" y="2423160"/>
            <a:ext cx="3575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Tanks behind the cab or along the chassis rails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under the cab (FCEV) or H₂ engine in the engine bay (H₂-ICE)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or 700 bar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Tata Prima H.55S offered as H₂-ICE and FCEV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03920" y="3959352"/>
            <a:ext cx="201168" cy="14630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59952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Fuel-cell stack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92640" y="3959352"/>
            <a:ext cx="201168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48672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tanks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881360" y="3959352"/>
            <a:ext cx="201168" cy="146304"/>
          </a:xfrm>
          <a:prstGeom prst="rect">
            <a:avLst/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137392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28600" y="3931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parts are packaged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224528"/>
          <a:ext cx="117317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931920"/>
                <a:gridCol w="414223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Layout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Benefit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Trade-off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under the floor (Mirai Gen-1)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Keeps weight low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Takes cabin height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in the front bay (Mirai Gen-2, Nexo)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Frees the floor for a third tank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Needs a compact, light stack (24 L, 24 kg)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Tanks under floor and seats (cars)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Protected inside the body structure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Limits storage to ~4–7 kg H₂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Tanks on the roof (buses)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Plenty of volume; leaks rise away from people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Raises the centre of gravity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 45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tanks, not the stack, drive packaging: cars hide 700 bar tanks under the floor; buses put 350 bar tanks on the roof.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Toyota UK – Mirai Gen-2 layout; JSME – stack size; The Week (May 2026) – Tata–IOCL bus; Autocar Pro – Tata hydrogen truck trials (Prima H.55S); Wikipedia – Nexo/ix35 history.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Control System &amp; Balance of Plant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2606040" cy="3063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Fuel-cell stack + supply loops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23444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E57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loop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→ compressor → cathode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563624"/>
            <a:ext cx="4114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" y="2057400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" y="210312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loop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 → injector → anode → recirculation → purge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432304"/>
            <a:ext cx="4114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926080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97180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Coolant loop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 → stack → radiator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300984"/>
            <a:ext cx="4114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777240"/>
            <a:ext cx="4434840" cy="3063240"/>
          </a:xfrm>
          <a:prstGeom prst="roundRect">
            <a:avLst>
              <a:gd name="adj" fmla="val 1194"/>
            </a:avLst>
          </a:prstGeom>
          <a:solidFill>
            <a:srgbClr val="4BACC6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FCU controller (the brain)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118872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compressor airflow to the power being asked for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05740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05740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anode pressure, recirculate unused H₂, purge water and nitrogen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292608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&amp; water: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stack near 60–80 °C and the membrane moist — neither flooded nor dry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822960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868680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 converter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stack current to match demand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1252728"/>
            <a:ext cx="457200" cy="0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1847088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19872" y="1892808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(via CAN)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available, H₂ left, warnings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2276856"/>
            <a:ext cx="457200" cy="0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46720" y="2871216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19872" y="2916936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tank valves on leak, crash or fault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89520" y="3300984"/>
            <a:ext cx="457200" cy="0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286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loop: repeats many times every second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" y="437083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2608" y="441655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Measure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cell's voltage, H₂ pressure, air flow, coolant temperature, H₂ sensors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90088" y="4873752"/>
            <a:ext cx="21945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27832" y="437083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91840" y="441655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Estimate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available now, membrane wetness, hydrogen left in the tanks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89320" y="4873752"/>
            <a:ext cx="21945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27064" y="437083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91072" y="441655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Decide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air and H₂? Too hot, too dry or flooded? Any leak?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88552" y="4873752"/>
            <a:ext cx="21945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226296" y="437083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90304" y="441655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Act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compressor and injector, purge, adjust current; shut valves if unsafe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228600" y="5532120"/>
            <a:ext cx="1173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FCU = fuel cell control unit · Balance of plant = compressor, injectors, pumps, valves and sensors around the stack. Toyota's Mirai stacks need no external humidifier.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JSME award – Toyota 2nd-gen fuel cell system (no humidifier); US DOE – fuel cell fact sheet; FutureBridge – stack operating temperature up to ~80 °C.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Refuelling Technology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1078992" cy="11430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" y="914400"/>
            <a:ext cx="950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Supply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Tube trailer, pipeline or on-site electrolyser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25880" y="1440180"/>
            <a:ext cx="8229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426464" y="868680"/>
            <a:ext cx="1078992" cy="11430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90472" y="914400"/>
            <a:ext cx="950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Compressor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Raises pressure in stages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23744" y="1440180"/>
            <a:ext cx="8229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24328" y="868680"/>
            <a:ext cx="1078992" cy="11430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8336" y="914400"/>
            <a:ext cx="950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Cascade storage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Low, medium and high-pressure banks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21608" y="1440180"/>
            <a:ext cx="8229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22192" y="868680"/>
            <a:ext cx="1078992" cy="11430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914400"/>
            <a:ext cx="950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Pre-cooler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Chills gas before it enters the car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19472" y="1440180"/>
            <a:ext cx="8229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0056" y="868680"/>
            <a:ext cx="1078992" cy="11430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4064" y="914400"/>
            <a:ext cx="950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Dispenser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or 700 bar nozzle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17336" y="1440180"/>
            <a:ext cx="82296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868680"/>
            <a:ext cx="1078992" cy="11430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914400"/>
            <a:ext cx="950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Vehicle tank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stay below 85 °C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0" y="2240280"/>
            <a:ext cx="301752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84048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 ↔ station data link: tank pressure, temperature and volume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28600" y="269748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 heats up as it is squeezed into the tank. Pre-cooling and the SAE J2601 fill protocol keep the carbon-fibre tank below its 85 °C limit while filling in minutes; if the data link drops, the station slows or stops the fill.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" y="347472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pressures in use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749040"/>
          <a:ext cx="7086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880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Pressure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fill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700 bar (H70)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3–5 minutes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City buses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 bar (H35)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 kg tanks (Tata–IOCL)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Heavy trucks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 or 700 bar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8–20 minutes (Hyundai XCIENT)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228600" y="52120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standards: SAE J2601 (fill protocol) · ISO 19880-1 (station design) · ISO 19880-5 (hoses) · ISO 14687 (fuel quality)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543800" y="777240"/>
            <a:ext cx="441655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82296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use – cars (kg per 100 km)</a:t>
            </a:r>
            <a:endParaRPr lang="en-US" sz="13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616952" y="1115568"/>
          <a:ext cx="4270248" cy="2359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5"/>
          <p:cNvSpPr/>
          <p:nvPr/>
        </p:nvSpPr>
        <p:spPr>
          <a:xfrm>
            <a:off x="7543800" y="3657600"/>
            <a:ext cx="4416552" cy="868680"/>
          </a:xfrm>
          <a:prstGeom prst="roundRect">
            <a:avLst>
              <a:gd name="adj" fmla="val 6316"/>
            </a:avLst>
          </a:prstGeom>
          <a:solidFill>
            <a:srgbClr val="FFF4E0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616952" y="3703320"/>
            <a:ext cx="4270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bus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 kg H₂ per 10 km — a 30 kg tank gives 300+ km (Tata–IOCL bus).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543800" y="4709160"/>
            <a:ext cx="4416552" cy="10972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16952" y="4754880"/>
            <a:ext cx="4270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Refuel vs recharge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FCEV car: 3–5 min for a full tank. BEV: ~35 min for 10–80% on a DC fast charger. The FCEV advantage exists only where a 700 bar station is nearby.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hydrogen car fills in 3–5 minutes – but only where a 700 bar station with pre-cooling exists; buses use simpler 350 bar stations.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Hyfindr – complete refuelling line (SAE J2601, 85 °C, 3–5 min, ISO 19880-5); Wikipedia – FCEV consumption (from EPA MPGe, ~1 kg ≈ 1 US gal) &amp; XCIENT fill time; The Week (May 2026) – bus figures; EV study deck – BEV charging.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 Fuel Cell Stack Manufacturing Process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Making the membrane electrode assembly (MEA)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11430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Catalyst ink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Platinum on carbon mixed with ionomer and solvent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41448" y="157734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15184" y="109728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1430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Coating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Ink applied to the membrane (decal transfer) or coated directly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28032" y="157734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01768" y="109728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5776" y="11430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GDL preparation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paper or cloth gas diffusion layers cut to size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14616" y="157734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88352" y="109728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1430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Lamination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Membrane + catalyst + GDL hot-pressed into one MEA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0" y="157734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74936" y="109728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38944" y="11430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Inspection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every MEA for leaks, shorts and pinholes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28600" y="2286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Making the stack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2606040"/>
            <a:ext cx="3657600" cy="384048"/>
          </a:xfrm>
          <a:prstGeom prst="rect">
            <a:avLst/>
          </a:prstGeom>
          <a:solidFill>
            <a:srgbClr val="8DC8E8"/>
          </a:solidFill>
          <a:ln w="12700">
            <a:solidFill>
              <a:srgbClr val="8DC8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Bipolar plates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04488" y="2798064"/>
            <a:ext cx="274320" cy="0"/>
          </a:xfrm>
          <a:prstGeom prst="line">
            <a:avLst/>
          </a:prstGeom>
          <a:noFill/>
          <a:ln w="19050">
            <a:solidFill>
              <a:srgbClr val="B03A8C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74320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Metal: stamp thin foil flow fields, then coat against corrosion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Graphite: mould graphite–resin plates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channel depth closely — it sets cell performance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97096" y="2606040"/>
            <a:ext cx="3657600" cy="384048"/>
          </a:xfrm>
          <a:prstGeom prst="rect">
            <a:avLst/>
          </a:prstGeom>
          <a:solidFill>
            <a:srgbClr val="8DC8E8"/>
          </a:solidFill>
          <a:ln w="12700">
            <a:solidFill>
              <a:srgbClr val="8DC8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97096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Sealing &amp; stacking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72984" y="2798064"/>
            <a:ext cx="274320" cy="0"/>
          </a:xfrm>
          <a:prstGeom prst="line">
            <a:avLst/>
          </a:prstGeom>
          <a:noFill/>
          <a:ln w="19050">
            <a:solidFill>
              <a:srgbClr val="B03A8C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242816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edge seals and gaskets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MEAs and plates in series (330 cells in Mirai Gen-2)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 with end plates and tie rods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65592" y="2606040"/>
            <a:ext cx="3657600" cy="384048"/>
          </a:xfrm>
          <a:prstGeom prst="rect">
            <a:avLst/>
          </a:prstGeom>
          <a:solidFill>
            <a:srgbClr val="8DC8E8"/>
          </a:solidFill>
          <a:ln w="12700">
            <a:solidFill>
              <a:srgbClr val="8DC8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65592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Conditioning &amp; testing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11312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Break-in run activates the catalyst and wets the membrane (hours to days)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 and per-cell voltage tests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 and pack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572000"/>
            <a:ext cx="11731752" cy="1325880"/>
          </a:xfrm>
          <a:prstGeom prst="roundRect">
            <a:avLst>
              <a:gd name="adj" fmla="val 4138"/>
            </a:avLst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4617720"/>
            <a:ext cx="11430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is often manual; automation must align soft and hard layers without damaging them.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Defects often show up only at stack test — tearing a stack down is costly, so in-line MEA inspection matters.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metal foil can crack during stamping; graphite plates are slow to produce at volume.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Cheaper stacks need continuous coating and lamination, automated stacking and earlier defect detection – not just less platinum.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 DOE Hydrogen &amp; Fuel Cells Multi-Year Program Plan – Manufacturing R&amp;D (PEM stack process steps and challenges); Toyota UK – Mirai Gen-2 cell count.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3.d Hydrogen Equipment: Electrolyser Manufacturing Capacity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7498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(factory capacity ~58 GW/yr, end-2025)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5760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1247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electrolyser manufacturing capacity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01752" y="1417320"/>
          <a:ext cx="5614416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456432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snapshot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Figure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Factory capacity, end-2025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~58 GW/yr (46 GW/yr a year earlier)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Electrolysers actually made, 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5 GW — about 9% utilisation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Installed electrolysis, 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 4 GW (doubled; China ~¾ of new)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 cost, 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China-made $500–1,100/kW vs others $1,900–2,500/kW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199632" y="7498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(SIGHT: 3,000 MW/yr awarded to 15 companies)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078992"/>
          <a:ext cx="5760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 market,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Figure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 H₂ production awarded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8.62 lakh TPA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 H₂ running (Feb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~8,000 TPA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Electrolyser incentive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3,000 MW/yr in two tranches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99632" y="2423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SIGHT Tranche I – electrolyser makers (Jan 2024)</a:t>
            </a:r>
            <a:endParaRPr lang="en-US" sz="125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2724912"/>
          <a:ext cx="5760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MW / yr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Bucket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Reliance Electrolyser Manufacturing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 Cockerill Greenko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Jindal India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Adani New Industries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198.5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Ohmium Operations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Homihydrogen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101.5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Advait Infratech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L&amp;T Electrolysers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Tranche 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India's gap: incentives are awarded, but only ~1% of the awarded green hydrogen (8,000 of 8.62 lakh TPA) is running.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IEA Global Hydrogen Review 2026 via Argus Media (capacity, utilisation, costs); IEA GHR 2026 executive summary (installed capacity); PIB (28 Oct 2026) – SIGHT progress; Renewable Watch (16 Jan 2024) – SECI Tranche I winners.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Refuelling Infra: Hydrogen Refuelling Stations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822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H₂ stations by country (end-2024)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2240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78408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~1,160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606040" y="1289304"/>
            <a:ext cx="137160" cy="137160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07208" y="1234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China 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636776"/>
            <a:ext cx="137160" cy="137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07208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 Korea 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984248"/>
            <a:ext cx="137160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1929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Japan 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06040" y="2331720"/>
            <a:ext cx="137160" cy="1371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07208" y="22768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Germany 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06040" y="2679192"/>
            <a:ext cx="137160" cy="137160"/>
          </a:xfrm>
          <a:prstGeom prst="rect">
            <a:avLst/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07208" y="26243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06040" y="3026664"/>
            <a:ext cx="137160" cy="13716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07208" y="2971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 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06240" y="77724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51960" y="822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India: EV charging points vs H₂ stations</a:t>
            </a:r>
            <a:endParaRPr lang="en-US" sz="13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4279392" y="1115568"/>
          <a:ext cx="3694176" cy="23225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8183880" y="777240"/>
            <a:ext cx="377647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29600" y="822960"/>
            <a:ext cx="3685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building India's H₂ stations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321040" y="123444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21040" y="1234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IndianOil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509760" y="123444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509760" y="1234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NTPC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10698480" y="123444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698480" y="1234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BPCL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321040" y="173736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321040" y="1737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HPCL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9509760" y="173736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509760" y="1737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Reliance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10698480" y="1737360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3A7D22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698480" y="1737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ANERT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8321040" y="23317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Public-sector firms lead, mostly for pilot fleets. A hydrogen station costs ~5–6× an equivalent CNG station.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84448"/>
          <a:ext cx="117317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931920"/>
                <a:gridCol w="322783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Leh, Ladakh (11,562 ft)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 kg/day green H₂; 1.7 MW solar; 5 FC buses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— buses handed over mid-2025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IndianOil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 Centre, Faridabad (Haryana)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 H₂ dispensing; Tata FC bus trials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IndianOil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 Refinery, Vadodara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 H₂ dispensing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IndianOil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Pune, Balasore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Stations for pilot corridors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Being set 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ANERT + BPCL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Muttathara (TVM) &amp; Udyogamandal (Kochi)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stations, 260 kg/day each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NGHM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NGHM pilots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 routes, 12 projects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stations sanctioned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Phase-1 commissioning by Mar 2027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33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India's hydrogen network is pilot-scale: 16 sanctioned stations against ~52,700 EV charging points.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H2stations.org/LBST via Motor1 (Feb 2025); Renewable Watch (20 Jun 2025); The Week (May 2026); Indian Infrastructure (Aug 2025); Construction World – Kerala pilot; Lok Sabha Q1648 (29 Jul 2026); EV study deck – MHI reply (16 Dec 2025); EVreporter (Feb 2026); Electrive (22 Sep 2025).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Financing &amp; Subsidies for Hydrogen Vehicles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71323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79476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Scheme / instrument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Benefit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NGHM mobility pilots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Viability-gap support of ~90% of project cost; ₹410.77 cr sanctioned for 12 pilots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— ₹41.6 cr released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GST on FCEVs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 from 12% to 5% under GST 2.0 — same rate as battery EVs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(Sep 2025)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MoRTH permit exemption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7-year permit waiver for hydrogen, electric, ethanol and methanol goods &amp; passenger vehicles (AIS-140 tracker needed)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Notified Jul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SIGHT production incentive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Lowers the cost of green H₂ supply; 8.62 lakh TPA awarded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7D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Private FCEV cars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central purchase subsidy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43800" y="777240"/>
            <a:ext cx="44165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82296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NGHM mobility funds (₹ crore)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16952" y="1115568"/>
          <a:ext cx="4270248" cy="2048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543800" y="329184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43800" y="32918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 → 5%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 on FCEVs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9811512" y="329184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811512" y="32918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years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Permit-free operation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28600" y="4297680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others subsidise fuel-cell vehicles</a:t>
            </a:r>
            <a:endParaRPr lang="en-US" sz="12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599432"/>
          <a:ext cx="117317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309360"/>
                <a:gridCol w="395935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South Korea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₩22.5m national + ₩10–12m local subsidy per Nexo — roughly half the ₩69.5m price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Peaked at 10,527 Nexo (2022); 6,802 FCEVs sold in 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Rewards paid to city clusters (not buyers) for vehicles, fuel-cell supply chain and stations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National goal of 50,000 FCVs by 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funds pilots and tax cuts, not buyers – the opposite of Korea, where subsidies halve the price of a Nexo.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Lok Sabha Q1648 (29 Jul 2026); PIB (28 Oct 2026); Electrive (22 Sep 2025) – GST; Autocar Pro (8 Jul 2026) – permit exemption; Hydrogen Insight – Korea subsidies; SNE Research via Argus (2025 sales); ICCT – China city clusters.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Mineral Mapping for Hydrogen Vehicle Parts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72237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11680"/>
                <a:gridCol w="17830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Mineral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Hydrogen part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 supply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chokepoint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Platinum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Fuel-cell catalyst (both electrodes)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commercial mine output — imported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South Africa ~71% of mine supply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PEM electrolyser anode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South Africa ~80% of world supply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Carbon fibre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 IV H₂ tanks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quantified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 makers worldwide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PFSA ionomer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Fuel-cell &amp; PEM electrolyser membranes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 fluoropolymer producers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Nickel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Alkaline electrolyser electrodes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imported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 ~68% of global refining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Rare earths (Nd, Pr, Dy, Tb)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Traction motor magnets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quantified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 &gt; 90% of processing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Buffer battery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imported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 &gt; 80% of India's Li imports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" y="4572000"/>
            <a:ext cx="7223760" cy="10972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01752" y="4617720"/>
            <a:ext cx="7077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precious metals go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cell: platinum on anode and cathode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 electrolyser: iridium oxide (anode) + platinum (cathode)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Alkaline electrolyser: nickel-based — no precious metals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35240" y="777240"/>
            <a:ext cx="43251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822960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country's share of world supply (%)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08392" y="1115568"/>
          <a:ext cx="4178808" cy="2276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635240" y="352044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India's response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3794760"/>
          <a:ext cx="43251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278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Platinum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Thrifting — Mirai Gen-2 uses 58% less Pt per kW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Iridium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Alkaline &amp; AEM electrolysers avoid it; SIGHT backs Indian makers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H₂-ICE needs no Pt or rare earths — easier to localise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Rare earths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₹7,280 cr magnet scheme (6,000 t/yr)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Reasi (J&amp;K) 5.9 Mt inferred; refinery JV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USGS Mineral Commodity Summaries 2026 – PGMs (2025e shares); SFA Oxford via Mining Weekly – iridium; IRENA (2020) Table 1 – electrolyser materials; JSME – Mirai Pt; EVreporter (Feb 2026); EV study deck – ORF critical minerals (Jul 2026).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Fuel-Cell Powertrain: How Power Flows in an FCEV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914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tank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/ 700 bar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92808" y="1344168"/>
            <a:ext cx="32918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40280" y="9144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914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Fuel-cell stack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DC power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58768" y="1344168"/>
            <a:ext cx="32918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06240" y="9144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914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 converter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raises stack voltage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24728" y="1344168"/>
            <a:ext cx="32918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9144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914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 DC bus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shares power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90688" y="1344168"/>
            <a:ext cx="32918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9144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914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→ 3-phase 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56648" y="1344168"/>
            <a:ext cx="32918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04120" y="9144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04120" y="914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+ gear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 to wheels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67728" y="1801368"/>
            <a:ext cx="0" cy="438912"/>
          </a:xfrm>
          <a:prstGeom prst="line">
            <a:avLst/>
          </a:prstGeom>
          <a:noFill/>
          <a:ln w="19050">
            <a:solidFill>
              <a:srgbClr val="3A7D22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2258568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E2EFDA"/>
          </a:solidFill>
          <a:ln w="15875">
            <a:solidFill>
              <a:srgbClr val="3A7D2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225856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 battery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peaks &amp; regen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30723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Regen: motor → inverter → battery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" y="2286000"/>
            <a:ext cx="5248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Toyota Mirai Gen-2 example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 kW stack (330 cells) · 134 kW rear motor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84-cell Li-ion battery: 31.5 kW for 10 seconds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kg H₂ in 3 tanks · ~650 km range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0" y="2103120"/>
            <a:ext cx="2633472" cy="1463040"/>
          </a:xfrm>
          <a:prstGeom prst="roundRect">
            <a:avLst>
              <a:gd name="adj" fmla="val 3750"/>
            </a:avLst>
          </a:prstGeom>
          <a:solidFill>
            <a:srgbClr val="FFF4E0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00032" y="214884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rules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(kWh) = tank size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(kW) = stack + battery boost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covers peaks and catches regen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modes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005072"/>
          <a:ext cx="117317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743200"/>
                <a:gridCol w="441655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 cell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Start-up &amp; creep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 or warming 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Drives the car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 needs air, H₂ and heat first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Steady cruise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power source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Topped up with spare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 cells are most efficient at part load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 acceleration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Adds boost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e.g. Mirai battery adds 31.5 kW for 10 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Braking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or idle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Absorbs regen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fuel cell cannot store energy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Stopped / idle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or off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auxiliaries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Saves hydrogen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Toyota UK – Mirai Gen-2 powertrain (stack, motor, battery output); US DOE – PEM fuel cell characteristics; battery-hybrid operating logic is the standard FCEV control strategy.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Electronics: Converting Power in an FCEV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Fuel-cell stack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DC; voltage sags as load rises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2848" y="1344168"/>
            <a:ext cx="3749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06040" y="914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boost converter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→ higher, steady DC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44568" y="1344168"/>
            <a:ext cx="3749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 DC bus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by all loads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76288" y="1344168"/>
            <a:ext cx="3749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914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→ 3-phase AC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08008" y="1344168"/>
            <a:ext cx="37490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0" y="914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1801368"/>
            <a:ext cx="0" cy="393192"/>
          </a:xfrm>
          <a:prstGeom prst="line">
            <a:avLst/>
          </a:prstGeom>
          <a:noFill/>
          <a:ln w="19050">
            <a:solidFill>
              <a:srgbClr val="3A7D22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37760" y="221284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2EFDA"/>
          </a:solidFill>
          <a:ln w="15875">
            <a:solidFill>
              <a:srgbClr val="3A7D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 battery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 two-way DC-DC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221284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DC-DC converter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 → 12 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21284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 battery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ECUs, lights, screens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801368"/>
            <a:ext cx="1463040" cy="393192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08008" y="2606040"/>
            <a:ext cx="374904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4320" y="2212848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365760" y="22128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Plug-in FCEV only: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grid → on-board charger (AC → DC) → battery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5669280" cy="2057400"/>
          </a:xfrm>
          <a:prstGeom prst="roundRect">
            <a:avLst>
              <a:gd name="adj" fmla="val 2667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" y="3291840"/>
            <a:ext cx="55229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boost converter?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fuel cell's voltage falls as current rises, and depends on how many cells are stacked.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boost converter lifts and steadies it so the inverter always sees a high, stable bus voltage.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controls how much current is drawn from the stack — the FCU uses it to set fuel-cell power.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Toyota calls it the FDC (fuel cell DC-DC converter).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246120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technologies (same as in a BEV)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566160"/>
          <a:ext cx="57424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463040"/>
                <a:gridCol w="15361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 IGBT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400 V, low cost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800 V, premium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Chargers, DC-DC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Efficiency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~97%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~98–99%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high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6217920" y="5577840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on-off switching (PWM) turns DC into sine-wave AC for the motor.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Toyota UK – Mirai Gen-2 (fuel cell DC-DC converter); EV study deck – switch technologies; PEM polarisation behaviour per US DOE fuel cell fact sheet.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21/25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Fuel System: Tank to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914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Receptacle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H35 / H70 filler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29968" y="1344168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12848" y="914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12848" y="914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valve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stops back-flow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14216" y="1344168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97096" y="914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DCEBFA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97096" y="914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IV tanks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700 bar + in-tank valve + TPRD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98464" y="1344168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81344" y="914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914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pressure down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82712" y="1344168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65592" y="914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5592" y="914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Injector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meters H₂ to demand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66960" y="1344168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49840" y="914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DCEBFA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0" y="914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anode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→ 2H⁺ + 2e⁻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49840" y="21488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E2EFDA"/>
          </a:solidFill>
          <a:ln w="15875">
            <a:solidFill>
              <a:srgbClr val="3A7D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9840" y="2148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Recirculation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 / ejector returns unused H₂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65592" y="21488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65592" y="2148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Purge / drain valve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water and nitrogen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21488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81344" y="2148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vapour + N₂; H₂ diluted in air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789920" y="1801368"/>
            <a:ext cx="0" cy="329184"/>
          </a:xfrm>
          <a:prstGeom prst="line">
            <a:avLst/>
          </a:prstGeom>
          <a:noFill/>
          <a:ln w="15875">
            <a:solidFill>
              <a:srgbClr val="3A7D2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1292840" y="1801368"/>
            <a:ext cx="0" cy="329184"/>
          </a:xfrm>
          <a:prstGeom prst="line">
            <a:avLst/>
          </a:prstGeom>
          <a:noFill/>
          <a:ln w="15875">
            <a:solidFill>
              <a:srgbClr val="3A7D2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9966960" y="2560320"/>
            <a:ext cx="16459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7982712" y="2560320"/>
            <a:ext cx="16459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" y="324612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" y="3291840"/>
            <a:ext cx="3648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step the pressure down?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Tanks store H₂ at up to 700 bar, but the anode needs only a few bar. The regulator drops pressure in stages, and the injector meters exactly the hydrogen the current needs — every 1 kg of H₂ carries about 26.6 kAh of charge (2 electrons per molecule).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197096" y="324612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FFF4E0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70248" y="3291840"/>
            <a:ext cx="3648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devices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TPRD vents the tank safely in a fire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In-tank solenoid valve closes when the car is off or on a fault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sensors close the tank valves on a leak or crash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valve stops gas flowing back out of the filler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Tanks carry leak detection, venting and thermal protection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165592" y="3246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Fuel-system layouts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65592" y="3547872"/>
          <a:ext cx="3794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88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Vehicle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700 bar; 3 tanks under floor &amp; seats (Mirai)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City bus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 bar roof tanks; 30 kg (Tata–IOCL)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 / 700 bar behind the cab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H₂-ICE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tanks; injectors at 10–350 bar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Tanks hold 700 bar but the stack sees only a few bar – regulation, recirculation and purging form the hydrogen side of the system.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EVreporter (Feb 2026) – cylinders, leak detection, injection pressures; Hyfindr – receptacles &amp; refuelling; Toyota UK – Mirai tanks; The Week (May 2026) – bus tanks; charge per kg from Faraday's law.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H₂-ICE: How a Hydrogen Combustion Engine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914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tanks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III / IV, 350 or 700 bar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04288" y="1371600"/>
            <a:ext cx="28346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06040" y="9144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914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drops tank pressure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81728" y="1371600"/>
            <a:ext cx="28346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9144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914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Injectors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10–20 bar or direct up to 350 bar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59168" y="1371600"/>
            <a:ext cx="28346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9144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914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Spark-ignition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compression, new pistons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36608" y="1371600"/>
            <a:ext cx="28346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38360" y="9144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8360" y="9144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Gearbox &amp; wheels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driveline as diesel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85048" y="1847088"/>
            <a:ext cx="0" cy="301752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2167128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212848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vapour + some NOx → NOx after-treatment may be needed for BS-VI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Diesel → H₂-ICE: what changes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87168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Ignition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Compression ignition → spark plugs, ignition coils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Combustion chamber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 compression ratio and redesigned pistons — H₂ burns fast and knocks easily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 system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Hydrogen injectors and pressure regulation replace diesel injection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H₂-compatible parts to resist embrittlement and leaks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H₂-calibrated ECU; lean air–fuel ratio (lambda) to cut NOx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Certified cylinders with leak detection, auto shut-off and venting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315200" y="30632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H₂-ICE vs FCEV</a:t>
            </a:r>
            <a:endParaRPr lang="en-US" sz="12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3364992"/>
          <a:ext cx="46451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1627632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H₂-ICE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FCEV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Diesel-like (engine-limited)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40–50% tank-to-wheel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Precious metals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None; no rare earths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Platinum catalyst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Localisation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Easier — shares diesel/CNG lines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Longer path; costly stack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Tailpipe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 + some NOx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 only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NGHM pilots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 vehicles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 vehicles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228600" y="6108192"/>
            <a:ext cx="11731752" cy="310896"/>
          </a:xfrm>
          <a:prstGeom prst="rect">
            <a:avLst/>
          </a:prstGeom>
          <a:noFill/>
          <a:ln w="9525">
            <a:solidFill>
              <a:srgbClr val="404040"/>
            </a:solidFill>
            <a:prstDash val="dash"/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➤  </a:t>
            </a:r>
            <a:pPr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H₂-ICE is the quick, low-cost route for Indian trucks (Reliance–Ashok Leyland, Tata, VECV) – but NOx must still be controlled.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EVreporter (Feb 2026) – interview with Reliance Industries' head of hydrogen systems (conversion, injection, NOx, cost); Lok Sabha Q1648 (29 Jul 2026) – pilot mix; Autocar Pro – Tata H₂ trucks.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23/25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High-Voltage, Low-Voltage &amp; Hydrogen Safety Systems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76809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5875">
            <a:solidFill>
              <a:srgbClr val="C55A1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36576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voltage: orange cables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FBE5D6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123444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stack + boost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and lifts DC power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E2EFDA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237744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 buffer battery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BMS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118872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1234440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PDU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Contactors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Pre-charge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Fuses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sensor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1664208"/>
            <a:ext cx="374904" cy="0"/>
          </a:xfrm>
          <a:prstGeom prst="line">
            <a:avLst/>
          </a:prstGeom>
          <a:noFill/>
          <a:ln w="1587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32888" y="2807208"/>
            <a:ext cx="374904" cy="0"/>
          </a:xfrm>
          <a:prstGeom prst="line">
            <a:avLst/>
          </a:prstGeom>
          <a:noFill/>
          <a:ln w="15875">
            <a:solidFill>
              <a:srgbClr val="3A7D22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0972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Inverter + motor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flipV="1">
            <a:off x="4864608" y="1344168"/>
            <a:ext cx="374904" cy="89611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171907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7190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compressor (HV)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4864608" y="1965960"/>
            <a:ext cx="374904" cy="27432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57800" y="234086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23408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Coolant pump &amp; PTC heater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64608" y="2240280"/>
            <a:ext cx="374904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57800" y="296265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E7E6E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29626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DC-DC converter (HV → 12 V)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4608" y="2240280"/>
            <a:ext cx="374904" cy="96926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38160" y="777240"/>
            <a:ext cx="382219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11312" y="82296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voltage: 12 V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 ECUs, lights, screens, airbags, pumps and steering. The 12 V battery wakes the car.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2011680"/>
            <a:ext cx="38221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211312" y="2057400"/>
            <a:ext cx="3675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Hydrogen safety layer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sensors at the stack, tanks and cabin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 valves close on leak, crash or fault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TPRD vents tanks in a fire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Insulation monitor and HVIL, as in a BEV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286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Power-up: from "start" to "ready" (typical sequence)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4343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608" y="438912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Wake up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 powers the ECUs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41448" y="482346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15184" y="4343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79192" y="438912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Check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Insulation, HVIL, H₂ sensors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28032" y="482346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01768" y="4343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65776" y="438912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Pre-charge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connects; capacitors fill slowly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14616" y="482346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88352" y="4343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52360" y="438912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Open H₂ &amp; air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 valves open; compressor starts; stack voltage rises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601200" y="4823460"/>
            <a:ext cx="155448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774936" y="4343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38944" y="438912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Ready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cell and battery share the load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2860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varies by manufacturer; shown for teaching.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EV study deck – HV/LV architecture and power-up; EVreporter (Feb 2026) – leak detection, auto shut-off, venting; Toyota UK – Mirai Gen-2 components.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170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&amp; Water Management in an FCEV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1752" y="8229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coolant loop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up to ~80 °C. Large radiator and fan; low-conductivity coolant because it flows through the live stack.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91256" y="77724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A7D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64408" y="8229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A7D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&amp; e-drive loop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lower-temperature loop for the buffer battery, inverter and motor.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53912" y="77724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27064" y="8229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Cabin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waste heat warms the cabin in winter; A/C cools it in summer.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16568" y="77724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89720" y="8229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55A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management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leaves with the exhaust air. The membrane must stay moist; water is purged at shutdown so it cannot freeze — Mirai starts from −30 °C.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10312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" y="2148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Coolant-to-air gap at 40 °C ambient (°C)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01752" y="2441448"/>
          <a:ext cx="3694176" cy="17282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206240" y="210312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2148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 to coolant for 20 kW at the wheels (kW)</a:t>
            </a:r>
            <a:endParaRPr lang="en-US" sz="13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279392" y="2441448"/>
          <a:ext cx="3694176" cy="17282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8183880" y="2103120"/>
            <a:ext cx="3776472" cy="2103120"/>
          </a:xfrm>
          <a:prstGeom prst="roundRect">
            <a:avLst>
              <a:gd name="adj" fmla="val 2609"/>
            </a:avLst>
          </a:prstGeom>
          <a:solidFill>
            <a:srgbClr val="EEF4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57032" y="2148840"/>
            <a:ext cx="3630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FCEVs need bigger radiators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engine dumps about a third of its heat out of the hot exhaust; a fuel cell sends almost all of it to the coolant.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runs cooler, so the gap to outside air is half an engine's — each kW of heat needs more radiator.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roughly 2–2.5× the cooling capacity of an ICE (illustrative estimate).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2860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modes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590288"/>
          <a:ext cx="117317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354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happens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Hot day, high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Radiator and fan at full; power may be limited to protect the stack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Cold start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drives first while the stack warms itself; water was purged at the last shutdown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Highway cruise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Fuel cell near steady output; radiator carries most of the heat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City traffic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covers peaks and regen; fuel cell runs at part load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228600" y="644652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FutureBridge – FCEV thermal challenges (stack ≤80 °C, ΔT and 20 kW example; figures are illustrative); Toyota UK – Mirai −30 °C start; EV study deck – thermal layout.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Study Report on Hydrogen Vehicle</dc:title>
  <dc:subject>PptxGenJS Presentation</dc:subject>
  <dc:creator>PptxGenJS</dc:creator>
  <cp:lastModifiedBy>PptxGenJS</cp:lastModifiedBy>
  <cp:revision>1</cp:revision>
  <dcterms:created xsi:type="dcterms:W3CDTF">2026-10-31T09:20:07Z</dcterms:created>
  <dcterms:modified xsi:type="dcterms:W3CDTF">2026-10-31T09:20:07Z</dcterms:modified>
</cp:coreProperties>
</file>